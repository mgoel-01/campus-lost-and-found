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7"/>
                </a:solidFill>
                <a:latin typeface="Arial"/>
              </a:defRPr>
            </a:pPr>
            <a:r>
              <a:rPr sz="1400" b="0" i="0" u="none" strike="noStrike">
                <a:solidFill>
                  <a:srgbClr val="0B3B37"/>
                </a:solidFill>
                <a:latin typeface="Arial"/>
              </a:rPr>
              <a:t>Passed test cases per module</a:t>
            </a:r>
          </a:p>
        </c:rich>
      </c:tx>
      <c:layout/>
      <c:overlay val="0"/>
    </c:title>
    <c:autoTitleDeleted val="0"/>
    <c:plotArea>
      <c:layout/>
      <c:barChart>
        <c:barDir val="col"/>
        <c:grouping val="clustered"/>
        <c:varyColors val="0"/>
        <c:ser>
          <c:idx val="0"/>
          <c:order val="0"/>
          <c:tx>
            <c:strRef>
              <c:f>Sheet1!$B$1</c:f>
              <c:strCache>
                <c:ptCount val="1"/>
                <c:pt idx="0">
                  <c:v>Run 1 (before fixes)</c:v>
                </c:pt>
              </c:strCache>
            </c:strRef>
          </c:tx>
          <c:spPr>
            <a:solidFill>
              <a:srgbClr val="F59E0B"/>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Accounts</c:v>
                  </c:pt>
                  <c:pt idx="1">
                    <c:v>Items</c:v>
                  </c:pt>
                  <c:pt idx="2">
                    <c:v>Search</c:v>
                  </c:pt>
                  <c:pt idx="3">
                    <c:v>Claims</c:v>
                  </c:pt>
                  <c:pt idx="4">
                    <c:v>General</c:v>
                  </c:pt>
                </c:lvl>
              </c:multiLvlStrCache>
            </c:multiLvlStrRef>
          </c:cat>
          <c:val>
            <c:numRef>
              <c:f>Sheet1!$B$2:$B$6</c:f>
              <c:numCache>
                <c:formatCode>General</c:formatCode>
                <c:ptCount val="5"/>
                <c:pt idx="0">
                  <c:v>10</c:v>
                </c:pt>
                <c:pt idx="1">
                  <c:v>9</c:v>
                </c:pt>
                <c:pt idx="2">
                  <c:v>8</c:v>
                </c:pt>
                <c:pt idx="3">
                  <c:v>11</c:v>
                </c:pt>
                <c:pt idx="4">
                  <c:v>2</c:v>
                </c:pt>
              </c:numCache>
            </c:numRef>
          </c:val>
        </c:ser>
        <c:ser>
          <c:idx val="1"/>
          <c:order val="1"/>
          <c:tx>
            <c:strRef>
              <c:f>Sheet1!$C$1</c:f>
              <c:strCache>
                <c:ptCount val="1"/>
                <c:pt idx="0">
                  <c:v>Run 2 (after fixes)</c:v>
                </c:pt>
              </c:strCache>
            </c:strRef>
          </c:tx>
          <c:spPr>
            <a:solidFill>
              <a:srgbClr val="0F766E"/>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Accounts</c:v>
                  </c:pt>
                  <c:pt idx="1">
                    <c:v>Items</c:v>
                  </c:pt>
                  <c:pt idx="2">
                    <c:v>Search</c:v>
                  </c:pt>
                  <c:pt idx="3">
                    <c:v>Claims</c:v>
                  </c:pt>
                  <c:pt idx="4">
                    <c:v>General</c:v>
                  </c:pt>
                </c:lvl>
              </c:multiLvlStrCache>
            </c:multiLvlStrRef>
          </c:cat>
          <c:val>
            <c:numRef>
              <c:f>Sheet1!$C$2:$C$6</c:f>
              <c:numCache>
                <c:formatCode>General</c:formatCode>
                <c:ptCount val="5"/>
                <c:pt idx="0">
                  <c:v>12</c:v>
                </c:pt>
                <c:pt idx="1">
                  <c:v>10</c:v>
                </c:pt>
                <c:pt idx="2">
                  <c:v>9</c:v>
                </c:pt>
                <c:pt idx="3">
                  <c:v>12</c:v>
                </c:pt>
                <c:pt idx="4">
                  <c:v>2</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max val="14"/>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(any team member, ~20 seconds): Good morning. We are presenting Campus Lost &amp; Found, a web application that helps students report, search for and safely claim items lost on campus. Each of us will present the phase of the software development life cycle we were responsible for: requirements, design, development,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1 introduces the agenda (~20 seconds). Keep to the times shown - the demo is the longest part, so the requirements and design parts must stay within 4 minutes each. Hand over to the next presenter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1 (about 1 minute). Explain the three pain points from left to right, using a real example - for instance a lost ID card posted in a class WhatsApp group that nobody outside the class sees. Then read the problem statement on the right. Emphasise three words: searchable, trustworthy (ownership is checked), and private (contact details are not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1 (about 45 seconds). Walk through the stakeholders: the two kinds of students are the primary users and have high influence; the security desk acts as admin; the college administration is the sponsor; the faculty evaluates; the team builds. Mention that requirements were gathered by informal interviews with classmates, observing WhatsApp groups and notice boards, and talking to the security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1 (about 1 minute). Left: the 16 functional requirements fall into four groups - read one example from each group. Every requirement has a MoSCoW priority and is linked to the test cases that verify it, which Student 4 will show. Right: the most important non-functional requirements are security (bcrypt hashing, ownership checks), privacy (contact details hidden from visitors), and clear validation and error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1 (about 45 seconds). The project is feasible on all five dimensions. Technical: the MERN stack is free and well supported. Economic: zero licence cost. Operational: no training needed because the flow mirrors how items are returned today. Schedule: we cut notifications and image matching to fit one semester - see the timeline. Legal: we store minimal personal data. Then hand over to Student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30 seconds). We chose five UML diagrams that together cover four viewpoints: functional (use case), structural (class), behavioural (sequence and activity) and physical (deployment). The system has a three-tier architecture: React in the browser, an Express REST API, and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45 seconds). Point to the three actors on the left: Visitor, Student and Admin. The hollow arrows mean a Student can do everything a Visitor can. Explain one extend (uploading a photo is optional when posting) and the include (approving a request always marks the item as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45 seconds). Three classes - User, Item, Claim. A user posts many items and makes many claims. The filled diamond means composition: deleting an item deletes its claims. Point out the enumerations and the note: one claim per student per item, enforced by a unique database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45 seconds). Part A: the claimant's browser sends a POST request with the login token; the API checks the token, loads the item and runs the checks in the alt box. Part B: the poster loads the requests and approves one; the API makes three updates - claim approved, item resolved, other claims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45 seconds). Three swimlanes: Finder, System and Owner. Follow the flow from the finder posting, through validation, to the owner searching and claiming, and finally the finder approving or rejecting. Point out the decision diamonds with guard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2 (about 30 seconds). The browser runs the React app. On the application server, Vite serves the app on port 5173 and forwards API calls to Express on port 5000, which stores photos in the uploads folder and talks to MongoDB on port 27017. In the demo all three are the same laptop. Then hand over to Student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3 (about 45 seconds). We used the MERN stack. MongoDB stores users, items and claims through Mongoose schemas. Express provides the REST API with 15 endpoints. React builds the single-page interface with 7 pages. Node.js runs the server. Mention the supporting libraries at the bottom and why: bcryptjs for passwords, jsonwebtoken for login sessions, multer for photo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3 (about 3 minutes - the most important part). BEFORE CLASS: start MongoDB, run "npm run seed" and "npm run dev" in server, and "npm run dev" in client; open http://localhost:5173 in two browser windows (one normal, one private). DURING THE DEMO follow the six steps: (1) browse and search for "bottle" while logged out - point out that contact details are hidden; (2) log in as Aarav and post a found item with a photo; (3) in the private window log in as Priya, open the item and send a claim describing a detail; (4) back as Aarav, open Requests and approve; (5) show the item now has the Returned tag and Priya sees Approved; (6) show one validation message, e.g. try to claim your own post. If something fails, stay calm and show the screenshots from the Testing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3 (about 45 seconds). The assignment asks for validation, error handling and user-friendly interfaces - these are the measures we built in. Explain two in detail: passwords are hashed with bcrypt so even we cannot read them, and the item endpoint hides email and phone from visitors who are not logged in. Then hand over to Student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4 (about 1 minute). We wrote 45 automated system test cases that start the real API and send real HTTP requests, using a separate test database so demo data is never touched. They cover functional, negative, boundary and security cases, and can be re-run with one command: npm test. We also have 10 manual UI test cases. The first run found 4 real defects; after fixing them every test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4 (about 1.5 minutes). The chart compares the two runs per module. Run 1 had 5 failures: 4 were real product defects, and 1 (TC-24) was a mistake in our own test - the expected count was wrong - which we corrected. Explain the most serious defect, D-04: after an item was returned, the poster could still approve another claim and change who the item was returned to. We fixed it so decisions are refused once an item is returned, re-ran everything, and all 45 passed. Then hand over to Student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5 (about 1 minute). The SRS follows the IEEE 830 / ISO 29148 structure and brings together all project details: introduction and scope, overall description with user classes and constraints, external interfaces including the full API, system features with stimulus-response sequences, non-functional requirements and business rules, the data model, and a verification section linking every requirement to its test results. The companion documents are the requirements analysis, the UML design document and the testing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5 (about 45 seconds). Summarise what was achieved on the left, then mention future work on the right - notifications and college-email sign-up are the most requested. Close with: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team member. Likely questions and who should answer: Why MERN? (Student 3). How do you stop a false claim? - the poster reads the proof and only then approves; future work is college-email sign-up (Student 1). Why these five diagrams? (Student 2). How do you run the tests? - npm test in the server folder (Student 4). What standard does the SRS follow? - IEEE 830 / ISO 29148 (Student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37"/>
        </a:solidFill>
      </p:bgPr>
    </p:bg>
    <p:spTree>
      <p:nvGrpSpPr>
        <p:cNvPr id="1" name=""/>
        <p:cNvGrpSpPr/>
        <p:nvPr/>
      </p:nvGrpSpPr>
      <p:grpSpPr>
        <a:xfrm>
          <a:off x="0" y="0"/>
          <a:ext cx="0" cy="0"/>
          <a:chOff x="0" y="0"/>
          <a:chExt cx="0" cy="0"/>
        </a:xfrm>
      </p:grpSpPr>
      <p:sp>
        <p:nvSpPr>
          <p:cNvPr id="2" name="Shape 0"/>
          <p:cNvSpPr/>
          <p:nvPr/>
        </p:nvSpPr>
        <p:spPr>
          <a:xfrm>
            <a:off x="548640" y="457200"/>
            <a:ext cx="512064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566928"/>
            <a:ext cx="109728" cy="109728"/>
          </a:xfrm>
          <a:prstGeom prst="ellipse">
            <a:avLst/>
          </a:prstGeom>
          <a:solidFill>
            <a:srgbClr val="0B3B37"/>
          </a:solidFill>
          <a:ln w="12700">
            <a:solidFill>
              <a:srgbClr val="0B3B37"/>
            </a:solidFill>
            <a:prstDash val="solid"/>
          </a:ln>
        </p:spPr>
      </p:sp>
      <p:sp>
        <p:nvSpPr>
          <p:cNvPr id="4" name="Text 2"/>
          <p:cNvSpPr txBox="1"/>
          <p:nvPr/>
        </p:nvSpPr>
        <p:spPr>
          <a:xfrm>
            <a:off x="841248" y="457200"/>
            <a:ext cx="477316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BCSE301L - Software Engineering  |  Fall Semester 2026-27</a:t>
            </a:r>
            <a:endParaRPr lang="en-US" sz="1200" dirty="0"/>
          </a:p>
        </p:txBody>
      </p:sp>
      <p:sp>
        <p:nvSpPr>
          <p:cNvPr id="5" name="Text 3"/>
          <p:cNvSpPr txBox="1"/>
          <p:nvPr/>
        </p:nvSpPr>
        <p:spPr>
          <a:xfrm>
            <a:off x="548640" y="1554480"/>
            <a:ext cx="7315200" cy="109728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Campus Lost &amp; Found</a:t>
            </a:r>
            <a:endParaRPr lang="en-US" sz="5400" dirty="0"/>
          </a:p>
        </p:txBody>
      </p:sp>
      <p:sp>
        <p:nvSpPr>
          <p:cNvPr id="6" name="Text 4"/>
          <p:cNvSpPr txBox="1"/>
          <p:nvPr/>
        </p:nvSpPr>
        <p:spPr>
          <a:xfrm>
            <a:off x="548640" y="2651760"/>
            <a:ext cx="6766560" cy="822960"/>
          </a:xfrm>
          <a:prstGeom prst="rect">
            <a:avLst/>
          </a:prstGeom>
          <a:noFill/>
          <a:ln/>
        </p:spPr>
        <p:txBody>
          <a:bodyPr wrap="square" lIns="0" tIns="0" rIns="0" bIns="0" rtlCol="0" anchor="t"/>
          <a:lstStyle/>
          <a:p>
            <a:pPr indent="0" marL="0">
              <a:buNone/>
            </a:pPr>
            <a:r>
              <a:rPr lang="en-US" sz="2000" i="1" dirty="0">
                <a:solidFill>
                  <a:srgbClr val="CFE8E3"/>
                </a:solidFill>
                <a:latin typeface="Calibri" pitchFamily="34" charset="0"/>
                <a:ea typeface="Calibri" pitchFamily="34" charset="-122"/>
                <a:cs typeface="Calibri" pitchFamily="34" charset="-120"/>
              </a:rPr>
              <a:t>A web platform to report, search for and safely claim items lost on campus</a:t>
            </a:r>
            <a:endParaRPr lang="en-US" sz="2000" dirty="0"/>
          </a:p>
        </p:txBody>
      </p:sp>
      <p:sp>
        <p:nvSpPr>
          <p:cNvPr id="7" name="Text 5"/>
          <p:cNvSpPr txBox="1"/>
          <p:nvPr/>
        </p:nvSpPr>
        <p:spPr>
          <a:xfrm>
            <a:off x="548640" y="3520440"/>
            <a:ext cx="6858000" cy="365760"/>
          </a:xfrm>
          <a:prstGeom prst="rect">
            <a:avLst/>
          </a:prstGeom>
          <a:noFill/>
          <a:ln/>
        </p:spPr>
        <p:txBody>
          <a:bodyPr wrap="square" lIns="0" tIns="0" rIns="0" bIns="0" rtlCol="0" anchor="t"/>
          <a:lstStyle/>
          <a:p>
            <a:pPr indent="0" marL="0">
              <a:buNone/>
            </a:pPr>
            <a:r>
              <a:rPr lang="en-US" sz="1400" dirty="0">
                <a:solidFill>
                  <a:srgbClr val="A7C4BF"/>
                </a:solidFill>
                <a:latin typeface="Calibri" pitchFamily="34" charset="0"/>
                <a:ea typeface="Calibri" pitchFamily="34" charset="-122"/>
                <a:cs typeface="Calibri" pitchFamily="34" charset="-120"/>
              </a:rPr>
              <a:t>MERN stack web application  |  Software Engineering Digital Assignment</a:t>
            </a:r>
            <a:endParaRPr lang="en-US" sz="1400" dirty="0"/>
          </a:p>
        </p:txBody>
      </p:sp>
      <p:sp>
        <p:nvSpPr>
          <p:cNvPr id="8" name="Shape 6"/>
          <p:cNvSpPr/>
          <p:nvPr/>
        </p:nvSpPr>
        <p:spPr>
          <a:xfrm>
            <a:off x="7818120" y="1371600"/>
            <a:ext cx="3840480" cy="4480560"/>
          </a:xfrm>
          <a:prstGeom prst="roundRect">
            <a:avLst>
              <a:gd name="adj" fmla="val 2381"/>
            </a:avLst>
          </a:prstGeom>
          <a:solidFill>
            <a:srgbClr val="134E48"/>
          </a:solidFill>
          <a:ln w="12700">
            <a:solidFill>
              <a:srgbClr val="134E48"/>
            </a:solidFill>
            <a:prstDash val="solid"/>
          </a:ln>
        </p:spPr>
      </p:sp>
      <p:sp>
        <p:nvSpPr>
          <p:cNvPr id="9" name="Text 7"/>
          <p:cNvSpPr txBox="1"/>
          <p:nvPr/>
        </p:nvSpPr>
        <p:spPr>
          <a:xfrm>
            <a:off x="8092440" y="1554480"/>
            <a:ext cx="3291840" cy="411480"/>
          </a:xfrm>
          <a:prstGeom prst="rect">
            <a:avLst/>
          </a:prstGeom>
          <a:noFill/>
          <a:ln/>
        </p:spPr>
        <p:txBody>
          <a:bodyPr wrap="square" lIns="0" tIns="0" rIns="0" bIns="0" rtlCol="0" anchor="t"/>
          <a:lstStyle/>
          <a:p>
            <a:pPr indent="0" marL="0">
              <a:buNone/>
            </a:pPr>
            <a:r>
              <a:rPr lang="en-US" sz="1800" b="1" dirty="0">
                <a:solidFill>
                  <a:srgbClr val="F59E0B"/>
                </a:solidFill>
                <a:latin typeface="Calibri" pitchFamily="34" charset="0"/>
                <a:ea typeface="Calibri" pitchFamily="34" charset="-122"/>
                <a:cs typeface="Calibri" pitchFamily="34" charset="-120"/>
              </a:rPr>
              <a:t>Team</a:t>
            </a:r>
            <a:endParaRPr lang="en-US" sz="1800" dirty="0"/>
          </a:p>
        </p:txBody>
      </p:sp>
      <p:sp>
        <p:nvSpPr>
          <p:cNvPr id="10" name="Shape 8"/>
          <p:cNvSpPr/>
          <p:nvPr/>
        </p:nvSpPr>
        <p:spPr>
          <a:xfrm>
            <a:off x="8092440" y="2103120"/>
            <a:ext cx="384048" cy="384048"/>
          </a:xfrm>
          <a:prstGeom prst="ellipse">
            <a:avLst/>
          </a:prstGeom>
          <a:solidFill>
            <a:srgbClr val="F59E0B"/>
          </a:solidFill>
          <a:ln w="12700">
            <a:solidFill>
              <a:srgbClr val="F59E0B"/>
            </a:solidFill>
            <a:prstDash val="solid"/>
          </a:ln>
        </p:spPr>
      </p:sp>
      <p:sp>
        <p:nvSpPr>
          <p:cNvPr id="11" name="Text 9"/>
          <p:cNvSpPr txBox="1"/>
          <p:nvPr/>
        </p:nvSpPr>
        <p:spPr>
          <a:xfrm>
            <a:off x="8092440" y="2103120"/>
            <a:ext cx="384048"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8641080" y="2057400"/>
            <a:ext cx="283464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[Student 1 name]</a:t>
            </a:r>
            <a:endParaRPr lang="en-US" sz="1500" dirty="0"/>
          </a:p>
        </p:txBody>
      </p:sp>
      <p:sp>
        <p:nvSpPr>
          <p:cNvPr id="13" name="Text 11"/>
          <p:cNvSpPr txBox="1"/>
          <p:nvPr/>
        </p:nvSpPr>
        <p:spPr>
          <a:xfrm>
            <a:off x="8641080" y="2350008"/>
            <a:ext cx="2834640" cy="274320"/>
          </a:xfrm>
          <a:prstGeom prst="rect">
            <a:avLst/>
          </a:prstGeom>
          <a:noFill/>
          <a:ln/>
        </p:spPr>
        <p:txBody>
          <a:bodyPr wrap="square" lIns="0" tIns="0" rIns="0" bIns="0" rtlCol="0" anchor="t"/>
          <a:lstStyle/>
          <a:p>
            <a:pPr indent="0" marL="0">
              <a:buNone/>
            </a:pPr>
            <a:r>
              <a:rPr lang="en-US" sz="1200" dirty="0">
                <a:solidFill>
                  <a:srgbClr val="A7C4BF"/>
                </a:solidFill>
                <a:latin typeface="Calibri" pitchFamily="34" charset="0"/>
                <a:ea typeface="Calibri" pitchFamily="34" charset="-122"/>
                <a:cs typeface="Calibri" pitchFamily="34" charset="-120"/>
              </a:rPr>
              <a:t>Requirement Gathering &amp; Analysis</a:t>
            </a:r>
            <a:endParaRPr lang="en-US" sz="1200" dirty="0"/>
          </a:p>
        </p:txBody>
      </p:sp>
      <p:sp>
        <p:nvSpPr>
          <p:cNvPr id="14" name="Shape 12"/>
          <p:cNvSpPr/>
          <p:nvPr/>
        </p:nvSpPr>
        <p:spPr>
          <a:xfrm>
            <a:off x="8092440" y="2834640"/>
            <a:ext cx="384048" cy="384048"/>
          </a:xfrm>
          <a:prstGeom prst="ellipse">
            <a:avLst/>
          </a:prstGeom>
          <a:solidFill>
            <a:srgbClr val="F59E0B"/>
          </a:solidFill>
          <a:ln w="12700">
            <a:solidFill>
              <a:srgbClr val="F59E0B"/>
            </a:solidFill>
            <a:prstDash val="solid"/>
          </a:ln>
        </p:spPr>
      </p:sp>
      <p:sp>
        <p:nvSpPr>
          <p:cNvPr id="15" name="Text 13"/>
          <p:cNvSpPr txBox="1"/>
          <p:nvPr/>
        </p:nvSpPr>
        <p:spPr>
          <a:xfrm>
            <a:off x="8092440" y="2834640"/>
            <a:ext cx="384048"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8641080" y="2788920"/>
            <a:ext cx="283464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[Student 2 name]</a:t>
            </a:r>
            <a:endParaRPr lang="en-US" sz="1500" dirty="0"/>
          </a:p>
        </p:txBody>
      </p:sp>
      <p:sp>
        <p:nvSpPr>
          <p:cNvPr id="17" name="Text 15"/>
          <p:cNvSpPr txBox="1"/>
          <p:nvPr/>
        </p:nvSpPr>
        <p:spPr>
          <a:xfrm>
            <a:off x="8641080" y="3081528"/>
            <a:ext cx="2834640" cy="274320"/>
          </a:xfrm>
          <a:prstGeom prst="rect">
            <a:avLst/>
          </a:prstGeom>
          <a:noFill/>
          <a:ln/>
        </p:spPr>
        <p:txBody>
          <a:bodyPr wrap="square" lIns="0" tIns="0" rIns="0" bIns="0" rtlCol="0" anchor="t"/>
          <a:lstStyle/>
          <a:p>
            <a:pPr indent="0" marL="0">
              <a:buNone/>
            </a:pPr>
            <a:r>
              <a:rPr lang="en-US" sz="1200" dirty="0">
                <a:solidFill>
                  <a:srgbClr val="A7C4BF"/>
                </a:solidFill>
                <a:latin typeface="Calibri" pitchFamily="34" charset="0"/>
                <a:ea typeface="Calibri" pitchFamily="34" charset="-122"/>
                <a:cs typeface="Calibri" pitchFamily="34" charset="-120"/>
              </a:rPr>
              <a:t>System Design (UML)</a:t>
            </a:r>
            <a:endParaRPr lang="en-US" sz="1200" dirty="0"/>
          </a:p>
        </p:txBody>
      </p:sp>
      <p:sp>
        <p:nvSpPr>
          <p:cNvPr id="18" name="Shape 16"/>
          <p:cNvSpPr/>
          <p:nvPr/>
        </p:nvSpPr>
        <p:spPr>
          <a:xfrm>
            <a:off x="8092440" y="3566160"/>
            <a:ext cx="384048" cy="384048"/>
          </a:xfrm>
          <a:prstGeom prst="ellipse">
            <a:avLst/>
          </a:prstGeom>
          <a:solidFill>
            <a:srgbClr val="F59E0B"/>
          </a:solidFill>
          <a:ln w="12700">
            <a:solidFill>
              <a:srgbClr val="F59E0B"/>
            </a:solidFill>
            <a:prstDash val="solid"/>
          </a:ln>
        </p:spPr>
      </p:sp>
      <p:sp>
        <p:nvSpPr>
          <p:cNvPr id="19" name="Text 17"/>
          <p:cNvSpPr txBox="1"/>
          <p:nvPr/>
        </p:nvSpPr>
        <p:spPr>
          <a:xfrm>
            <a:off x="8092440" y="3566160"/>
            <a:ext cx="384048"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8641080" y="3520440"/>
            <a:ext cx="283464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[Student 3 name]</a:t>
            </a:r>
            <a:endParaRPr lang="en-US" sz="1500" dirty="0"/>
          </a:p>
        </p:txBody>
      </p:sp>
      <p:sp>
        <p:nvSpPr>
          <p:cNvPr id="21" name="Text 19"/>
          <p:cNvSpPr txBox="1"/>
          <p:nvPr/>
        </p:nvSpPr>
        <p:spPr>
          <a:xfrm>
            <a:off x="8641080" y="3813048"/>
            <a:ext cx="2834640" cy="274320"/>
          </a:xfrm>
          <a:prstGeom prst="rect">
            <a:avLst/>
          </a:prstGeom>
          <a:noFill/>
          <a:ln/>
        </p:spPr>
        <p:txBody>
          <a:bodyPr wrap="square" lIns="0" tIns="0" rIns="0" bIns="0" rtlCol="0" anchor="t"/>
          <a:lstStyle/>
          <a:p>
            <a:pPr indent="0" marL="0">
              <a:buNone/>
            </a:pPr>
            <a:r>
              <a:rPr lang="en-US" sz="1200" dirty="0">
                <a:solidFill>
                  <a:srgbClr val="A7C4BF"/>
                </a:solidFill>
                <a:latin typeface="Calibri" pitchFamily="34" charset="0"/>
                <a:ea typeface="Calibri" pitchFamily="34" charset="-122"/>
                <a:cs typeface="Calibri" pitchFamily="34" charset="-120"/>
              </a:rPr>
              <a:t>Development</a:t>
            </a:r>
            <a:endParaRPr lang="en-US" sz="1200" dirty="0"/>
          </a:p>
        </p:txBody>
      </p:sp>
      <p:sp>
        <p:nvSpPr>
          <p:cNvPr id="22" name="Shape 20"/>
          <p:cNvSpPr/>
          <p:nvPr/>
        </p:nvSpPr>
        <p:spPr>
          <a:xfrm>
            <a:off x="8092440" y="4297680"/>
            <a:ext cx="384048" cy="384048"/>
          </a:xfrm>
          <a:prstGeom prst="ellipse">
            <a:avLst/>
          </a:prstGeom>
          <a:solidFill>
            <a:srgbClr val="F59E0B"/>
          </a:solidFill>
          <a:ln w="12700">
            <a:solidFill>
              <a:srgbClr val="F59E0B"/>
            </a:solidFill>
            <a:prstDash val="solid"/>
          </a:ln>
        </p:spPr>
      </p:sp>
      <p:sp>
        <p:nvSpPr>
          <p:cNvPr id="23" name="Text 21"/>
          <p:cNvSpPr txBox="1"/>
          <p:nvPr/>
        </p:nvSpPr>
        <p:spPr>
          <a:xfrm>
            <a:off x="8092440" y="4297680"/>
            <a:ext cx="384048"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8641080" y="4251960"/>
            <a:ext cx="283464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[Student 4 name]</a:t>
            </a:r>
            <a:endParaRPr lang="en-US" sz="1500" dirty="0"/>
          </a:p>
        </p:txBody>
      </p:sp>
      <p:sp>
        <p:nvSpPr>
          <p:cNvPr id="25" name="Text 23"/>
          <p:cNvSpPr txBox="1"/>
          <p:nvPr/>
        </p:nvSpPr>
        <p:spPr>
          <a:xfrm>
            <a:off x="8641080" y="4544568"/>
            <a:ext cx="2834640" cy="274320"/>
          </a:xfrm>
          <a:prstGeom prst="rect">
            <a:avLst/>
          </a:prstGeom>
          <a:noFill/>
          <a:ln/>
        </p:spPr>
        <p:txBody>
          <a:bodyPr wrap="square" lIns="0" tIns="0" rIns="0" bIns="0" rtlCol="0" anchor="t"/>
          <a:lstStyle/>
          <a:p>
            <a:pPr indent="0" marL="0">
              <a:buNone/>
            </a:pPr>
            <a:r>
              <a:rPr lang="en-US" sz="1200" dirty="0">
                <a:solidFill>
                  <a:srgbClr val="A7C4BF"/>
                </a:solidFill>
                <a:latin typeface="Calibri" pitchFamily="34" charset="0"/>
                <a:ea typeface="Calibri" pitchFamily="34" charset="-122"/>
                <a:cs typeface="Calibri" pitchFamily="34" charset="-120"/>
              </a:rPr>
              <a:t>Testing</a:t>
            </a:r>
            <a:endParaRPr lang="en-US" sz="1200" dirty="0"/>
          </a:p>
        </p:txBody>
      </p:sp>
      <p:sp>
        <p:nvSpPr>
          <p:cNvPr id="26" name="Shape 24"/>
          <p:cNvSpPr/>
          <p:nvPr/>
        </p:nvSpPr>
        <p:spPr>
          <a:xfrm>
            <a:off x="8092440" y="5029200"/>
            <a:ext cx="384048" cy="384048"/>
          </a:xfrm>
          <a:prstGeom prst="ellipse">
            <a:avLst/>
          </a:prstGeom>
          <a:solidFill>
            <a:srgbClr val="F59E0B"/>
          </a:solidFill>
          <a:ln w="12700">
            <a:solidFill>
              <a:srgbClr val="F59E0B"/>
            </a:solidFill>
            <a:prstDash val="solid"/>
          </a:ln>
        </p:spPr>
      </p:sp>
      <p:sp>
        <p:nvSpPr>
          <p:cNvPr id="27" name="Text 25"/>
          <p:cNvSpPr txBox="1"/>
          <p:nvPr/>
        </p:nvSpPr>
        <p:spPr>
          <a:xfrm>
            <a:off x="8092440" y="5029200"/>
            <a:ext cx="384048"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8641080" y="4983480"/>
            <a:ext cx="283464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[Student 5 name]</a:t>
            </a:r>
            <a:endParaRPr lang="en-US" sz="1500" dirty="0"/>
          </a:p>
        </p:txBody>
      </p:sp>
      <p:sp>
        <p:nvSpPr>
          <p:cNvPr id="29" name="Text 27"/>
          <p:cNvSpPr txBox="1"/>
          <p:nvPr/>
        </p:nvSpPr>
        <p:spPr>
          <a:xfrm>
            <a:off x="8641080" y="5276088"/>
            <a:ext cx="2834640" cy="274320"/>
          </a:xfrm>
          <a:prstGeom prst="rect">
            <a:avLst/>
          </a:prstGeom>
          <a:noFill/>
          <a:ln/>
        </p:spPr>
        <p:txBody>
          <a:bodyPr wrap="square" lIns="0" tIns="0" rIns="0" bIns="0" rtlCol="0" anchor="t"/>
          <a:lstStyle/>
          <a:p>
            <a:pPr indent="0" marL="0">
              <a:buNone/>
            </a:pPr>
            <a:r>
              <a:rPr lang="en-US" sz="1200" dirty="0">
                <a:solidFill>
                  <a:srgbClr val="A7C4BF"/>
                </a:solidFill>
                <a:latin typeface="Calibri" pitchFamily="34" charset="0"/>
                <a:ea typeface="Calibri" pitchFamily="34" charset="-122"/>
                <a:cs typeface="Calibri" pitchFamily="34" charset="-120"/>
              </a:rPr>
              <a:t>Documentation (SRS)</a:t>
            </a:r>
            <a:endParaRPr lang="en-US" sz="1200" dirty="0"/>
          </a:p>
        </p:txBody>
      </p:sp>
      <p:sp>
        <p:nvSpPr>
          <p:cNvPr id="30" name="Text 28"/>
          <p:cNvSpPr txBox="1"/>
          <p:nvPr/>
        </p:nvSpPr>
        <p:spPr>
          <a:xfrm>
            <a:off x="548640" y="6035040"/>
            <a:ext cx="5486400" cy="320040"/>
          </a:xfrm>
          <a:prstGeom prst="rect">
            <a:avLst/>
          </a:prstGeom>
          <a:noFill/>
          <a:ln/>
        </p:spPr>
        <p:txBody>
          <a:bodyPr wrap="square" lIns="0" tIns="0" rIns="0" bIns="0" rtlCol="0" anchor="t"/>
          <a:lstStyle/>
          <a:p>
            <a:pPr indent="0" marL="0">
              <a:buNone/>
            </a:pPr>
            <a:r>
              <a:rPr lang="en-US" sz="1300" dirty="0">
                <a:solidFill>
                  <a:srgbClr val="A7C4BF"/>
                </a:solidFill>
                <a:latin typeface="Calibri" pitchFamily="34" charset="0"/>
                <a:ea typeface="Calibri" pitchFamily="34" charset="-122"/>
                <a:cs typeface="Calibri" pitchFamily="34" charset="-120"/>
              </a:rPr>
              <a:t>Faculty: [Faculty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t"/>
          <a:lstStyle/>
          <a:p>
            <a:pPr indent="0" marL="0">
              <a:buNone/>
            </a:pPr>
            <a:r>
              <a:rPr lang="en-US" sz="3400" b="1" dirty="0">
                <a:solidFill>
                  <a:srgbClr val="0B3B37"/>
                </a:solidFill>
                <a:latin typeface="Cambria" pitchFamily="34" charset="0"/>
                <a:ea typeface="Cambria" pitchFamily="34" charset="-122"/>
                <a:cs typeface="Cambria" pitchFamily="34" charset="-120"/>
              </a:rPr>
              <a:t>Agenda - 20 minutes, 5 presenters</a:t>
            </a:r>
            <a:endParaRPr lang="en-US" sz="3400" dirty="0"/>
          </a:p>
        </p:txBody>
      </p:sp>
      <p:sp>
        <p:nvSpPr>
          <p:cNvPr id="3" name="Shape 1"/>
          <p:cNvSpPr/>
          <p:nvPr/>
        </p:nvSpPr>
        <p:spPr>
          <a:xfrm>
            <a:off x="548640" y="1600200"/>
            <a:ext cx="2057400" cy="3566160"/>
          </a:xfrm>
          <a:prstGeom prst="roundRect">
            <a:avLst>
              <a:gd name="adj" fmla="val 4444"/>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828800"/>
            <a:ext cx="548640" cy="548640"/>
          </a:xfrm>
          <a:prstGeom prst="ellipse">
            <a:avLst/>
          </a:prstGeom>
          <a:solidFill>
            <a:srgbClr val="0F766E"/>
          </a:solidFill>
          <a:ln w="12700">
            <a:solidFill>
              <a:srgbClr val="0F766E"/>
            </a:solidFill>
            <a:prstDash val="solid"/>
          </a:ln>
        </p:spPr>
      </p:sp>
      <p:sp>
        <p:nvSpPr>
          <p:cNvPr id="5" name="Text 3"/>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777240" y="2560320"/>
            <a:ext cx="1600200" cy="320040"/>
          </a:xfrm>
          <a:prstGeom prst="rect">
            <a:avLst/>
          </a:prstGeom>
          <a:noFill/>
          <a:ln/>
        </p:spPr>
        <p:txBody>
          <a:bodyPr wrap="square" lIns="0" tIns="0" rIns="0" bIns="0" rtlCol="0" anchor="t"/>
          <a:lstStyle/>
          <a:p>
            <a:pPr indent="0" marL="0">
              <a:buNone/>
            </a:pPr>
            <a:r>
              <a:rPr lang="en-US" sz="1300" b="1" dirty="0">
                <a:solidFill>
                  <a:srgbClr val="4B5563"/>
                </a:solidFill>
                <a:latin typeface="Calibri" pitchFamily="34" charset="0"/>
                <a:ea typeface="Calibri" pitchFamily="34" charset="-122"/>
                <a:cs typeface="Calibri" pitchFamily="34" charset="-120"/>
              </a:rPr>
              <a:t>Student 1</a:t>
            </a:r>
            <a:endParaRPr lang="en-US" sz="1300" dirty="0"/>
          </a:p>
        </p:txBody>
      </p:sp>
      <p:sp>
        <p:nvSpPr>
          <p:cNvPr id="7" name="Text 5"/>
          <p:cNvSpPr txBox="1"/>
          <p:nvPr/>
        </p:nvSpPr>
        <p:spPr>
          <a:xfrm>
            <a:off x="731520" y="2880360"/>
            <a:ext cx="1783080" cy="457200"/>
          </a:xfrm>
          <a:prstGeom prst="rect">
            <a:avLst/>
          </a:prstGeom>
          <a:noFill/>
          <a:ln/>
        </p:spPr>
        <p:txBody>
          <a:bodyPr wrap="square" lIns="0" tIns="0" rIns="0" bIns="0" rtlCol="0" anchor="t">
            <a:normAutofit/>
          </a:bodyPr>
          <a:lstStyle/>
          <a:p>
            <a:pPr indent="0" marL="0">
              <a:buNone/>
            </a:pPr>
            <a:r>
              <a:rPr lang="en-US" sz="1650" b="1" dirty="0">
                <a:solidFill>
                  <a:srgbClr val="0B3B37"/>
                </a:solidFill>
                <a:latin typeface="Cambria" pitchFamily="34" charset="0"/>
                <a:ea typeface="Cambria" pitchFamily="34" charset="-122"/>
                <a:cs typeface="Cambria" pitchFamily="34" charset="-120"/>
              </a:rPr>
              <a:t>Requirements</a:t>
            </a:r>
            <a:endParaRPr lang="en-US" sz="1650" dirty="0"/>
          </a:p>
        </p:txBody>
      </p:sp>
      <p:sp>
        <p:nvSpPr>
          <p:cNvPr id="8" name="Text 6"/>
          <p:cNvSpPr txBox="1"/>
          <p:nvPr/>
        </p:nvSpPr>
        <p:spPr>
          <a:xfrm>
            <a:off x="777240" y="3429000"/>
            <a:ext cx="164592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Problem, stakeholders, FR / NFR, feasibility</a:t>
            </a:r>
            <a:endParaRPr lang="en-US" sz="1400" dirty="0"/>
          </a:p>
        </p:txBody>
      </p:sp>
      <p:sp>
        <p:nvSpPr>
          <p:cNvPr id="9" name="Text 7"/>
          <p:cNvSpPr txBox="1"/>
          <p:nvPr/>
        </p:nvSpPr>
        <p:spPr>
          <a:xfrm>
            <a:off x="777240" y="4617720"/>
            <a:ext cx="1645920" cy="32004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0:00 - 4:00</a:t>
            </a:r>
            <a:endParaRPr lang="en-US" sz="1300" dirty="0"/>
          </a:p>
        </p:txBody>
      </p:sp>
      <p:sp>
        <p:nvSpPr>
          <p:cNvPr id="10" name="Shape 8"/>
          <p:cNvSpPr/>
          <p:nvPr/>
        </p:nvSpPr>
        <p:spPr>
          <a:xfrm>
            <a:off x="2807894" y="1600200"/>
            <a:ext cx="2057400" cy="3566160"/>
          </a:xfrm>
          <a:prstGeom prst="roundRect">
            <a:avLst>
              <a:gd name="adj" fmla="val 4444"/>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036494" y="1828800"/>
            <a:ext cx="548640" cy="548640"/>
          </a:xfrm>
          <a:prstGeom prst="ellipse">
            <a:avLst/>
          </a:prstGeom>
          <a:solidFill>
            <a:srgbClr val="0F766E"/>
          </a:solidFill>
          <a:ln w="12700">
            <a:solidFill>
              <a:srgbClr val="0F766E"/>
            </a:solidFill>
            <a:prstDash val="solid"/>
          </a:ln>
        </p:spPr>
      </p:sp>
      <p:sp>
        <p:nvSpPr>
          <p:cNvPr id="12" name="Text 10"/>
          <p:cNvSpPr txBox="1"/>
          <p:nvPr/>
        </p:nvSpPr>
        <p:spPr>
          <a:xfrm>
            <a:off x="3036494"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3036494" y="2560320"/>
            <a:ext cx="1600200" cy="320040"/>
          </a:xfrm>
          <a:prstGeom prst="rect">
            <a:avLst/>
          </a:prstGeom>
          <a:noFill/>
          <a:ln/>
        </p:spPr>
        <p:txBody>
          <a:bodyPr wrap="square" lIns="0" tIns="0" rIns="0" bIns="0" rtlCol="0" anchor="t"/>
          <a:lstStyle/>
          <a:p>
            <a:pPr indent="0" marL="0">
              <a:buNone/>
            </a:pPr>
            <a:r>
              <a:rPr lang="en-US" sz="1300" b="1" dirty="0">
                <a:solidFill>
                  <a:srgbClr val="4B5563"/>
                </a:solidFill>
                <a:latin typeface="Calibri" pitchFamily="34" charset="0"/>
                <a:ea typeface="Calibri" pitchFamily="34" charset="-122"/>
                <a:cs typeface="Calibri" pitchFamily="34" charset="-120"/>
              </a:rPr>
              <a:t>Student 2</a:t>
            </a:r>
            <a:endParaRPr lang="en-US" sz="1300" dirty="0"/>
          </a:p>
        </p:txBody>
      </p:sp>
      <p:sp>
        <p:nvSpPr>
          <p:cNvPr id="14" name="Text 12"/>
          <p:cNvSpPr txBox="1"/>
          <p:nvPr/>
        </p:nvSpPr>
        <p:spPr>
          <a:xfrm>
            <a:off x="2990774" y="2880360"/>
            <a:ext cx="1783080" cy="457200"/>
          </a:xfrm>
          <a:prstGeom prst="rect">
            <a:avLst/>
          </a:prstGeom>
          <a:noFill/>
          <a:ln/>
        </p:spPr>
        <p:txBody>
          <a:bodyPr wrap="square" lIns="0" tIns="0" rIns="0" bIns="0" rtlCol="0" anchor="t">
            <a:normAutofit/>
          </a:bodyPr>
          <a:lstStyle/>
          <a:p>
            <a:pPr indent="0" marL="0">
              <a:buNone/>
            </a:pPr>
            <a:r>
              <a:rPr lang="en-US" sz="1650" b="1" dirty="0">
                <a:solidFill>
                  <a:srgbClr val="0B3B37"/>
                </a:solidFill>
                <a:latin typeface="Cambria" pitchFamily="34" charset="0"/>
                <a:ea typeface="Cambria" pitchFamily="34" charset="-122"/>
                <a:cs typeface="Cambria" pitchFamily="34" charset="-120"/>
              </a:rPr>
              <a:t>System Design</a:t>
            </a:r>
            <a:endParaRPr lang="en-US" sz="1650" dirty="0"/>
          </a:p>
        </p:txBody>
      </p:sp>
      <p:sp>
        <p:nvSpPr>
          <p:cNvPr id="15" name="Text 13"/>
          <p:cNvSpPr txBox="1"/>
          <p:nvPr/>
        </p:nvSpPr>
        <p:spPr>
          <a:xfrm>
            <a:off x="3036494" y="3429000"/>
            <a:ext cx="164592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Five UML diagrams</a:t>
            </a:r>
            <a:endParaRPr lang="en-US" sz="1400" dirty="0"/>
          </a:p>
        </p:txBody>
      </p:sp>
      <p:sp>
        <p:nvSpPr>
          <p:cNvPr id="16" name="Text 14"/>
          <p:cNvSpPr txBox="1"/>
          <p:nvPr/>
        </p:nvSpPr>
        <p:spPr>
          <a:xfrm>
            <a:off x="3036494" y="4617720"/>
            <a:ext cx="1645920" cy="32004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4:00 - 8:00</a:t>
            </a:r>
            <a:endParaRPr lang="en-US" sz="1300" dirty="0"/>
          </a:p>
        </p:txBody>
      </p:sp>
      <p:sp>
        <p:nvSpPr>
          <p:cNvPr id="17" name="Shape 15"/>
          <p:cNvSpPr/>
          <p:nvPr/>
        </p:nvSpPr>
        <p:spPr>
          <a:xfrm>
            <a:off x="5067148" y="1600200"/>
            <a:ext cx="2057400" cy="3566160"/>
          </a:xfrm>
          <a:prstGeom prst="roundRect">
            <a:avLst>
              <a:gd name="adj" fmla="val 4444"/>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5295748" y="1828800"/>
            <a:ext cx="548640" cy="548640"/>
          </a:xfrm>
          <a:prstGeom prst="ellipse">
            <a:avLst/>
          </a:prstGeom>
          <a:solidFill>
            <a:srgbClr val="0F766E"/>
          </a:solidFill>
          <a:ln w="12700">
            <a:solidFill>
              <a:srgbClr val="0F766E"/>
            </a:solidFill>
            <a:prstDash val="solid"/>
          </a:ln>
        </p:spPr>
      </p:sp>
      <p:sp>
        <p:nvSpPr>
          <p:cNvPr id="19" name="Text 17"/>
          <p:cNvSpPr txBox="1"/>
          <p:nvPr/>
        </p:nvSpPr>
        <p:spPr>
          <a:xfrm>
            <a:off x="5295748"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Text 18"/>
          <p:cNvSpPr txBox="1"/>
          <p:nvPr/>
        </p:nvSpPr>
        <p:spPr>
          <a:xfrm>
            <a:off x="5295748" y="2560320"/>
            <a:ext cx="1600200" cy="320040"/>
          </a:xfrm>
          <a:prstGeom prst="rect">
            <a:avLst/>
          </a:prstGeom>
          <a:noFill/>
          <a:ln/>
        </p:spPr>
        <p:txBody>
          <a:bodyPr wrap="square" lIns="0" tIns="0" rIns="0" bIns="0" rtlCol="0" anchor="t"/>
          <a:lstStyle/>
          <a:p>
            <a:pPr indent="0" marL="0">
              <a:buNone/>
            </a:pPr>
            <a:r>
              <a:rPr lang="en-US" sz="1300" b="1" dirty="0">
                <a:solidFill>
                  <a:srgbClr val="4B5563"/>
                </a:solidFill>
                <a:latin typeface="Calibri" pitchFamily="34" charset="0"/>
                <a:ea typeface="Calibri" pitchFamily="34" charset="-122"/>
                <a:cs typeface="Calibri" pitchFamily="34" charset="-120"/>
              </a:rPr>
              <a:t>Student 3</a:t>
            </a:r>
            <a:endParaRPr lang="en-US" sz="1300" dirty="0"/>
          </a:p>
        </p:txBody>
      </p:sp>
      <p:sp>
        <p:nvSpPr>
          <p:cNvPr id="21" name="Text 19"/>
          <p:cNvSpPr txBox="1"/>
          <p:nvPr/>
        </p:nvSpPr>
        <p:spPr>
          <a:xfrm>
            <a:off x="5250028" y="2880360"/>
            <a:ext cx="1783080" cy="457200"/>
          </a:xfrm>
          <a:prstGeom prst="rect">
            <a:avLst/>
          </a:prstGeom>
          <a:noFill/>
          <a:ln/>
        </p:spPr>
        <p:txBody>
          <a:bodyPr wrap="square" lIns="0" tIns="0" rIns="0" bIns="0" rtlCol="0" anchor="t">
            <a:normAutofit/>
          </a:bodyPr>
          <a:lstStyle/>
          <a:p>
            <a:pPr indent="0" marL="0">
              <a:buNone/>
            </a:pPr>
            <a:r>
              <a:rPr lang="en-US" sz="1650" b="1" dirty="0">
                <a:solidFill>
                  <a:srgbClr val="0B3B37"/>
                </a:solidFill>
                <a:latin typeface="Cambria" pitchFamily="34" charset="0"/>
                <a:ea typeface="Cambria" pitchFamily="34" charset="-122"/>
                <a:cs typeface="Cambria" pitchFamily="34" charset="-120"/>
              </a:rPr>
              <a:t>Development</a:t>
            </a:r>
            <a:endParaRPr lang="en-US" sz="1650" dirty="0"/>
          </a:p>
        </p:txBody>
      </p:sp>
      <p:sp>
        <p:nvSpPr>
          <p:cNvPr id="22" name="Text 20"/>
          <p:cNvSpPr txBox="1"/>
          <p:nvPr/>
        </p:nvSpPr>
        <p:spPr>
          <a:xfrm>
            <a:off x="5295748" y="3429000"/>
            <a:ext cx="164592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Architecture, stack, live demo</a:t>
            </a:r>
            <a:endParaRPr lang="en-US" sz="1400" dirty="0"/>
          </a:p>
        </p:txBody>
      </p:sp>
      <p:sp>
        <p:nvSpPr>
          <p:cNvPr id="23" name="Text 21"/>
          <p:cNvSpPr txBox="1"/>
          <p:nvPr/>
        </p:nvSpPr>
        <p:spPr>
          <a:xfrm>
            <a:off x="5295748" y="4617720"/>
            <a:ext cx="1645920" cy="32004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8:00 - 13:00</a:t>
            </a:r>
            <a:endParaRPr lang="en-US" sz="1300" dirty="0"/>
          </a:p>
        </p:txBody>
      </p:sp>
      <p:sp>
        <p:nvSpPr>
          <p:cNvPr id="24" name="Shape 22"/>
          <p:cNvSpPr/>
          <p:nvPr/>
        </p:nvSpPr>
        <p:spPr>
          <a:xfrm>
            <a:off x="7326401" y="1600200"/>
            <a:ext cx="2057400" cy="3566160"/>
          </a:xfrm>
          <a:prstGeom prst="roundRect">
            <a:avLst>
              <a:gd name="adj" fmla="val 4444"/>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7555001" y="1828800"/>
            <a:ext cx="548640" cy="548640"/>
          </a:xfrm>
          <a:prstGeom prst="ellipse">
            <a:avLst/>
          </a:prstGeom>
          <a:solidFill>
            <a:srgbClr val="0F766E"/>
          </a:solidFill>
          <a:ln w="12700">
            <a:solidFill>
              <a:srgbClr val="0F766E"/>
            </a:solidFill>
            <a:prstDash val="solid"/>
          </a:ln>
        </p:spPr>
      </p:sp>
      <p:sp>
        <p:nvSpPr>
          <p:cNvPr id="26" name="Text 24"/>
          <p:cNvSpPr txBox="1"/>
          <p:nvPr/>
        </p:nvSpPr>
        <p:spPr>
          <a:xfrm>
            <a:off x="7555001"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txBox="1"/>
          <p:nvPr/>
        </p:nvSpPr>
        <p:spPr>
          <a:xfrm>
            <a:off x="7555001" y="2560320"/>
            <a:ext cx="1600200" cy="320040"/>
          </a:xfrm>
          <a:prstGeom prst="rect">
            <a:avLst/>
          </a:prstGeom>
          <a:noFill/>
          <a:ln/>
        </p:spPr>
        <p:txBody>
          <a:bodyPr wrap="square" lIns="0" tIns="0" rIns="0" bIns="0" rtlCol="0" anchor="t"/>
          <a:lstStyle/>
          <a:p>
            <a:pPr indent="0" marL="0">
              <a:buNone/>
            </a:pPr>
            <a:r>
              <a:rPr lang="en-US" sz="1300" b="1" dirty="0">
                <a:solidFill>
                  <a:srgbClr val="4B5563"/>
                </a:solidFill>
                <a:latin typeface="Calibri" pitchFamily="34" charset="0"/>
                <a:ea typeface="Calibri" pitchFamily="34" charset="-122"/>
                <a:cs typeface="Calibri" pitchFamily="34" charset="-120"/>
              </a:rPr>
              <a:t>Student 4</a:t>
            </a:r>
            <a:endParaRPr lang="en-US" sz="1300" dirty="0"/>
          </a:p>
        </p:txBody>
      </p:sp>
      <p:sp>
        <p:nvSpPr>
          <p:cNvPr id="28" name="Text 26"/>
          <p:cNvSpPr txBox="1"/>
          <p:nvPr/>
        </p:nvSpPr>
        <p:spPr>
          <a:xfrm>
            <a:off x="7509281" y="2880360"/>
            <a:ext cx="1783080" cy="457200"/>
          </a:xfrm>
          <a:prstGeom prst="rect">
            <a:avLst/>
          </a:prstGeom>
          <a:noFill/>
          <a:ln/>
        </p:spPr>
        <p:txBody>
          <a:bodyPr wrap="square" lIns="0" tIns="0" rIns="0" bIns="0" rtlCol="0" anchor="t">
            <a:normAutofit/>
          </a:bodyPr>
          <a:lstStyle/>
          <a:p>
            <a:pPr indent="0" marL="0">
              <a:buNone/>
            </a:pPr>
            <a:r>
              <a:rPr lang="en-US" sz="1650" b="1" dirty="0">
                <a:solidFill>
                  <a:srgbClr val="0B3B37"/>
                </a:solidFill>
                <a:latin typeface="Cambria" pitchFamily="34" charset="0"/>
                <a:ea typeface="Cambria" pitchFamily="34" charset="-122"/>
                <a:cs typeface="Cambria" pitchFamily="34" charset="-120"/>
              </a:rPr>
              <a:t>Testing</a:t>
            </a:r>
            <a:endParaRPr lang="en-US" sz="1650" dirty="0"/>
          </a:p>
        </p:txBody>
      </p:sp>
      <p:sp>
        <p:nvSpPr>
          <p:cNvPr id="29" name="Text 27"/>
          <p:cNvSpPr txBox="1"/>
          <p:nvPr/>
        </p:nvSpPr>
        <p:spPr>
          <a:xfrm>
            <a:off x="7555001" y="3429000"/>
            <a:ext cx="164592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Test plan, results, defects</a:t>
            </a:r>
            <a:endParaRPr lang="en-US" sz="1400" dirty="0"/>
          </a:p>
        </p:txBody>
      </p:sp>
      <p:sp>
        <p:nvSpPr>
          <p:cNvPr id="30" name="Text 28"/>
          <p:cNvSpPr txBox="1"/>
          <p:nvPr/>
        </p:nvSpPr>
        <p:spPr>
          <a:xfrm>
            <a:off x="7555001" y="4617720"/>
            <a:ext cx="1645920" cy="32004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13:00 - 16:00</a:t>
            </a:r>
            <a:endParaRPr lang="en-US" sz="1300" dirty="0"/>
          </a:p>
        </p:txBody>
      </p:sp>
      <p:sp>
        <p:nvSpPr>
          <p:cNvPr id="31" name="Shape 29"/>
          <p:cNvSpPr/>
          <p:nvPr/>
        </p:nvSpPr>
        <p:spPr>
          <a:xfrm>
            <a:off x="9585655" y="1600200"/>
            <a:ext cx="2057400" cy="3566160"/>
          </a:xfrm>
          <a:prstGeom prst="roundRect">
            <a:avLst>
              <a:gd name="adj" fmla="val 4444"/>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9814255" y="1828800"/>
            <a:ext cx="548640" cy="548640"/>
          </a:xfrm>
          <a:prstGeom prst="ellipse">
            <a:avLst/>
          </a:prstGeom>
          <a:solidFill>
            <a:srgbClr val="0F766E"/>
          </a:solidFill>
          <a:ln w="12700">
            <a:solidFill>
              <a:srgbClr val="0F766E"/>
            </a:solidFill>
            <a:prstDash val="solid"/>
          </a:ln>
        </p:spPr>
      </p:sp>
      <p:sp>
        <p:nvSpPr>
          <p:cNvPr id="33" name="Text 31"/>
          <p:cNvSpPr txBox="1"/>
          <p:nvPr/>
        </p:nvSpPr>
        <p:spPr>
          <a:xfrm>
            <a:off x="9814255"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4" name="Text 32"/>
          <p:cNvSpPr txBox="1"/>
          <p:nvPr/>
        </p:nvSpPr>
        <p:spPr>
          <a:xfrm>
            <a:off x="9814255" y="2560320"/>
            <a:ext cx="1600200" cy="320040"/>
          </a:xfrm>
          <a:prstGeom prst="rect">
            <a:avLst/>
          </a:prstGeom>
          <a:noFill/>
          <a:ln/>
        </p:spPr>
        <p:txBody>
          <a:bodyPr wrap="square" lIns="0" tIns="0" rIns="0" bIns="0" rtlCol="0" anchor="t"/>
          <a:lstStyle/>
          <a:p>
            <a:pPr indent="0" marL="0">
              <a:buNone/>
            </a:pPr>
            <a:r>
              <a:rPr lang="en-US" sz="1300" b="1" dirty="0">
                <a:solidFill>
                  <a:srgbClr val="4B5563"/>
                </a:solidFill>
                <a:latin typeface="Calibri" pitchFamily="34" charset="0"/>
                <a:ea typeface="Calibri" pitchFamily="34" charset="-122"/>
                <a:cs typeface="Calibri" pitchFamily="34" charset="-120"/>
              </a:rPr>
              <a:t>Student 5</a:t>
            </a:r>
            <a:endParaRPr lang="en-US" sz="1300" dirty="0"/>
          </a:p>
        </p:txBody>
      </p:sp>
      <p:sp>
        <p:nvSpPr>
          <p:cNvPr id="35" name="Text 33"/>
          <p:cNvSpPr txBox="1"/>
          <p:nvPr/>
        </p:nvSpPr>
        <p:spPr>
          <a:xfrm>
            <a:off x="9768535" y="2880360"/>
            <a:ext cx="1783080" cy="457200"/>
          </a:xfrm>
          <a:prstGeom prst="rect">
            <a:avLst/>
          </a:prstGeom>
          <a:noFill/>
          <a:ln/>
        </p:spPr>
        <p:txBody>
          <a:bodyPr wrap="square" lIns="0" tIns="0" rIns="0" bIns="0" rtlCol="0" anchor="t">
            <a:normAutofit/>
          </a:bodyPr>
          <a:lstStyle/>
          <a:p>
            <a:pPr indent="0" marL="0">
              <a:buNone/>
            </a:pPr>
            <a:r>
              <a:rPr lang="en-US" sz="1650" b="1" dirty="0">
                <a:solidFill>
                  <a:srgbClr val="0B3B37"/>
                </a:solidFill>
                <a:latin typeface="Cambria" pitchFamily="34" charset="0"/>
                <a:ea typeface="Cambria" pitchFamily="34" charset="-122"/>
                <a:cs typeface="Cambria" pitchFamily="34" charset="-120"/>
              </a:rPr>
              <a:t>Documentation</a:t>
            </a:r>
            <a:endParaRPr lang="en-US" sz="1650" dirty="0"/>
          </a:p>
        </p:txBody>
      </p:sp>
      <p:sp>
        <p:nvSpPr>
          <p:cNvPr id="36" name="Text 34"/>
          <p:cNvSpPr txBox="1"/>
          <p:nvPr/>
        </p:nvSpPr>
        <p:spPr>
          <a:xfrm>
            <a:off x="9814255" y="3429000"/>
            <a:ext cx="164592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SRS overview, conclusion</a:t>
            </a:r>
            <a:endParaRPr lang="en-US" sz="1400" dirty="0"/>
          </a:p>
        </p:txBody>
      </p:sp>
      <p:sp>
        <p:nvSpPr>
          <p:cNvPr id="37" name="Text 35"/>
          <p:cNvSpPr txBox="1"/>
          <p:nvPr/>
        </p:nvSpPr>
        <p:spPr>
          <a:xfrm>
            <a:off x="9814255" y="4617720"/>
            <a:ext cx="1645920" cy="32004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16:00 - 18:00</a:t>
            </a:r>
            <a:endParaRPr lang="en-US" sz="1300" dirty="0"/>
          </a:p>
        </p:txBody>
      </p:sp>
      <p:sp>
        <p:nvSpPr>
          <p:cNvPr id="38" name="Shape 36"/>
          <p:cNvSpPr/>
          <p:nvPr/>
        </p:nvSpPr>
        <p:spPr>
          <a:xfrm>
            <a:off x="548640" y="5486400"/>
            <a:ext cx="11094415" cy="685800"/>
          </a:xfrm>
          <a:prstGeom prst="roundRect">
            <a:avLst>
              <a:gd name="adj" fmla="val 13333"/>
            </a:avLst>
          </a:prstGeom>
          <a:solidFill>
            <a:srgbClr val="FEF3C7"/>
          </a:solidFill>
          <a:ln w="12700">
            <a:solidFill>
              <a:srgbClr val="FEF3C7"/>
            </a:solidFill>
            <a:prstDash val="solid"/>
          </a:ln>
        </p:spPr>
      </p:sp>
      <p:sp>
        <p:nvSpPr>
          <p:cNvPr id="39" name="Text 37"/>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Questions from the instructor and classmates: 18:00 - 20:00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26898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92150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1  |  Requirements Analysis</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The problem</a:t>
            </a:r>
            <a:endParaRPr lang="en-US" sz="3400" dirty="0"/>
          </a:p>
        </p:txBody>
      </p:sp>
      <p:sp>
        <p:nvSpPr>
          <p:cNvPr id="7" name="Shape 4"/>
          <p:cNvSpPr/>
          <p:nvPr/>
        </p:nvSpPr>
        <p:spPr>
          <a:xfrm>
            <a:off x="548640" y="1737360"/>
            <a:ext cx="457200" cy="457200"/>
          </a:xfrm>
          <a:prstGeom prst="ellipse">
            <a:avLst/>
          </a:prstGeom>
          <a:solidFill>
            <a:srgbClr val="F59E0B"/>
          </a:solidFill>
          <a:ln w="12700">
            <a:solidFill>
              <a:srgbClr val="F59E0B"/>
            </a:solidFill>
            <a:prstDash val="solid"/>
          </a:ln>
        </p:spPr>
      </p:sp>
      <p:sp>
        <p:nvSpPr>
          <p:cNvPr id="8" name="Text 5"/>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800" b="1" dirty="0">
                <a:solidFill>
                  <a:srgbClr val="0B3B37"/>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234440" y="1691640"/>
            <a:ext cx="4846320"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Scattered channels</a:t>
            </a:r>
            <a:endParaRPr lang="en-US" sz="2000" dirty="0"/>
          </a:p>
        </p:txBody>
      </p:sp>
      <p:sp>
        <p:nvSpPr>
          <p:cNvPr id="10" name="Text 7"/>
          <p:cNvSpPr txBox="1"/>
          <p:nvPr/>
        </p:nvSpPr>
        <p:spPr>
          <a:xfrm>
            <a:off x="1234440" y="2130552"/>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Lost items are posted in many WhatsApp groups and notice boards; posts are buried within hours and cannot be searched.</a:t>
            </a:r>
            <a:endParaRPr lang="en-US" sz="1500" dirty="0"/>
          </a:p>
        </p:txBody>
      </p:sp>
      <p:sp>
        <p:nvSpPr>
          <p:cNvPr id="11" name="Shape 8"/>
          <p:cNvSpPr/>
          <p:nvPr/>
        </p:nvSpPr>
        <p:spPr>
          <a:xfrm>
            <a:off x="548640" y="3200400"/>
            <a:ext cx="457200" cy="457200"/>
          </a:xfrm>
          <a:prstGeom prst="ellipse">
            <a:avLst/>
          </a:prstGeom>
          <a:solidFill>
            <a:srgbClr val="F59E0B"/>
          </a:solidFill>
          <a:ln w="12700">
            <a:solidFill>
              <a:srgbClr val="F59E0B"/>
            </a:solidFill>
            <a:prstDash val="solid"/>
          </a:ln>
        </p:spPr>
      </p:sp>
      <p:sp>
        <p:nvSpPr>
          <p:cNvPr id="12" name="Text 9"/>
          <p:cNvSpPr txBox="1"/>
          <p:nvPr/>
        </p:nvSpPr>
        <p:spPr>
          <a:xfrm>
            <a:off x="548640" y="3200400"/>
            <a:ext cx="457200" cy="457200"/>
          </a:xfrm>
          <a:prstGeom prst="rect">
            <a:avLst/>
          </a:prstGeom>
          <a:noFill/>
          <a:ln/>
        </p:spPr>
        <p:txBody>
          <a:bodyPr wrap="square" lIns="0" tIns="0" rIns="0" bIns="0" rtlCol="0" anchor="ctr"/>
          <a:lstStyle/>
          <a:p>
            <a:pPr algn="ctr" indent="0" marL="0">
              <a:buNone/>
            </a:pPr>
            <a:r>
              <a:rPr lang="en-US" sz="1800" b="1" dirty="0">
                <a:solidFill>
                  <a:srgbClr val="0B3B37"/>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1234440" y="3154680"/>
            <a:ext cx="4846320"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No proof of ownership</a:t>
            </a:r>
            <a:endParaRPr lang="en-US" sz="2000" dirty="0"/>
          </a:p>
        </p:txBody>
      </p:sp>
      <p:sp>
        <p:nvSpPr>
          <p:cNvPr id="14" name="Text 11"/>
          <p:cNvSpPr txBox="1"/>
          <p:nvPr/>
        </p:nvSpPr>
        <p:spPr>
          <a:xfrm>
            <a:off x="1234440" y="3593592"/>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Anyone who says "that's mine" can take an item - there is no check before hand-over.</a:t>
            </a:r>
            <a:endParaRPr lang="en-US" sz="1500" dirty="0"/>
          </a:p>
        </p:txBody>
      </p:sp>
      <p:sp>
        <p:nvSpPr>
          <p:cNvPr id="15" name="Shape 12"/>
          <p:cNvSpPr/>
          <p:nvPr/>
        </p:nvSpPr>
        <p:spPr>
          <a:xfrm>
            <a:off x="548640" y="4663440"/>
            <a:ext cx="457200" cy="457200"/>
          </a:xfrm>
          <a:prstGeom prst="ellipse">
            <a:avLst/>
          </a:prstGeom>
          <a:solidFill>
            <a:srgbClr val="F59E0B"/>
          </a:solidFill>
          <a:ln w="12700">
            <a:solidFill>
              <a:srgbClr val="F59E0B"/>
            </a:solidFill>
            <a:prstDash val="solid"/>
          </a:ln>
        </p:spPr>
      </p:sp>
      <p:sp>
        <p:nvSpPr>
          <p:cNvPr id="16" name="Text 13"/>
          <p:cNvSpPr txBox="1"/>
          <p:nvPr/>
        </p:nvSpPr>
        <p:spPr>
          <a:xfrm>
            <a:off x="548640" y="4663440"/>
            <a:ext cx="457200" cy="457200"/>
          </a:xfrm>
          <a:prstGeom prst="rect">
            <a:avLst/>
          </a:prstGeom>
          <a:noFill/>
          <a:ln/>
        </p:spPr>
        <p:txBody>
          <a:bodyPr wrap="square" lIns="0" tIns="0" rIns="0" bIns="0" rtlCol="0" anchor="ctr"/>
          <a:lstStyle/>
          <a:p>
            <a:pPr algn="ctr" indent="0" marL="0">
              <a:buNone/>
            </a:pPr>
            <a:r>
              <a:rPr lang="en-US" sz="1800" b="1" dirty="0">
                <a:solidFill>
                  <a:srgbClr val="0B3B37"/>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234440" y="4617720"/>
            <a:ext cx="4846320"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Privacy risk</a:t>
            </a:r>
            <a:endParaRPr lang="en-US" sz="2000" dirty="0"/>
          </a:p>
        </p:txBody>
      </p:sp>
      <p:sp>
        <p:nvSpPr>
          <p:cNvPr id="18" name="Text 15"/>
          <p:cNvSpPr txBox="1"/>
          <p:nvPr/>
        </p:nvSpPr>
        <p:spPr>
          <a:xfrm>
            <a:off x="1234440" y="5056632"/>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Finders share their phone numbers with hundreds of strangers in large groups.</a:t>
            </a:r>
            <a:endParaRPr lang="en-US" sz="1500" dirty="0"/>
          </a:p>
        </p:txBody>
      </p:sp>
      <p:sp>
        <p:nvSpPr>
          <p:cNvPr id="19" name="Shape 16"/>
          <p:cNvSpPr/>
          <p:nvPr/>
        </p:nvSpPr>
        <p:spPr>
          <a:xfrm>
            <a:off x="6400800" y="1691640"/>
            <a:ext cx="5239512" cy="4343400"/>
          </a:xfrm>
          <a:prstGeom prst="roundRect">
            <a:avLst>
              <a:gd name="adj" fmla="val 2105"/>
            </a:avLst>
          </a:prstGeom>
          <a:solidFill>
            <a:srgbClr val="0B3B37"/>
          </a:solidFill>
          <a:ln w="12700">
            <a:solidFill>
              <a:srgbClr val="0B3B37"/>
            </a:solidFill>
            <a:prstDash val="solid"/>
          </a:ln>
        </p:spPr>
      </p:sp>
      <p:sp>
        <p:nvSpPr>
          <p:cNvPr id="20" name="Text 17"/>
          <p:cNvSpPr txBox="1"/>
          <p:nvPr/>
        </p:nvSpPr>
        <p:spPr>
          <a:xfrm>
            <a:off x="6720840" y="1920240"/>
            <a:ext cx="4663440" cy="365760"/>
          </a:xfrm>
          <a:prstGeom prst="rect">
            <a:avLst/>
          </a:prstGeom>
          <a:noFill/>
          <a:ln/>
        </p:spPr>
        <p:txBody>
          <a:bodyPr wrap="square" lIns="0" tIns="0" rIns="0" bIns="0" rtlCol="0" anchor="t"/>
          <a:lstStyle/>
          <a:p>
            <a:pPr indent="0" marL="0">
              <a:buNone/>
            </a:pPr>
            <a:r>
              <a:rPr lang="en-US" sz="1400" b="1" dirty="0">
                <a:solidFill>
                  <a:srgbClr val="F59E0B"/>
                </a:solidFill>
                <a:latin typeface="Calibri" pitchFamily="34" charset="0"/>
                <a:ea typeface="Calibri" pitchFamily="34" charset="-122"/>
                <a:cs typeface="Calibri" pitchFamily="34" charset="-120"/>
              </a:rPr>
              <a:t>Problem statement</a:t>
            </a:r>
            <a:endParaRPr lang="en-US" sz="1400" dirty="0"/>
          </a:p>
        </p:txBody>
      </p:sp>
      <p:sp>
        <p:nvSpPr>
          <p:cNvPr id="21" name="Text 18"/>
          <p:cNvSpPr txBox="1"/>
          <p:nvPr/>
        </p:nvSpPr>
        <p:spPr>
          <a:xfrm>
            <a:off x="6720840" y="2377440"/>
            <a:ext cx="4663440" cy="2011680"/>
          </a:xfrm>
          <a:prstGeom prst="rect">
            <a:avLst/>
          </a:prstGeom>
          <a:noFill/>
          <a:ln/>
        </p:spPr>
        <p:txBody>
          <a:bodyPr wrap="square" lIns="0" tIns="0" rIns="0" bIns="0" rtlCol="0" anchor="t"/>
          <a:lstStyle/>
          <a:p>
            <a:pPr indent="0" marL="0">
              <a:buNone/>
            </a:pPr>
            <a:r>
              <a:rPr lang="en-US" sz="1900" i="1" dirty="0">
                <a:solidFill>
                  <a:srgbClr val="FFFFFF"/>
                </a:solidFill>
                <a:latin typeface="Cambria" pitchFamily="34" charset="0"/>
                <a:ea typeface="Cambria" pitchFamily="34" charset="-122"/>
                <a:cs typeface="Cambria" pitchFamily="34" charset="-120"/>
              </a:rPr>
              <a:t>Students who lose or find belongings on campus have no single, searchable, trustworthy place to connect. Many items are never returned, some go to the wrong person, and contact details are over-shared.</a:t>
            </a:r>
            <a:endParaRPr lang="en-US" sz="1900" dirty="0"/>
          </a:p>
        </p:txBody>
      </p:sp>
      <p:sp>
        <p:nvSpPr>
          <p:cNvPr id="22" name="Text 19"/>
          <p:cNvSpPr txBox="1"/>
          <p:nvPr/>
        </p:nvSpPr>
        <p:spPr>
          <a:xfrm>
            <a:off x="6720840" y="4572000"/>
            <a:ext cx="4663440" cy="1188720"/>
          </a:xfrm>
          <a:prstGeom prst="rect">
            <a:avLst/>
          </a:prstGeom>
          <a:noFill/>
          <a:ln/>
        </p:spPr>
        <p:txBody>
          <a:bodyPr wrap="square" lIns="0" tIns="0" rIns="0" bIns="0" rtlCol="0" anchor="t"/>
          <a:lstStyle/>
          <a:p>
            <a:pPr indent="0" marL="0">
              <a:buNone/>
            </a:pPr>
            <a:r>
              <a:rPr lang="en-US" sz="1500" dirty="0">
                <a:solidFill>
                  <a:srgbClr val="CFE8E3"/>
                </a:solidFill>
                <a:latin typeface="Calibri" pitchFamily="34" charset="0"/>
                <a:ea typeface="Calibri" pitchFamily="34" charset="-122"/>
                <a:cs typeface="Calibri" pitchFamily="34" charset="-120"/>
              </a:rPr>
              <a:t>Goal: finders post, owners search and claim with proof, finders approve - contact details only for logged-in members.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26898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92150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1  |  Requirements Analysis</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Stakeholders</a:t>
            </a:r>
            <a:endParaRPr lang="en-US" sz="3400" dirty="0"/>
          </a:p>
        </p:txBody>
      </p:sp>
      <p:sp>
        <p:nvSpPr>
          <p:cNvPr id="7" name="Shape 4"/>
          <p:cNvSpPr/>
          <p:nvPr/>
        </p:nvSpPr>
        <p:spPr>
          <a:xfrm>
            <a:off x="548640" y="1691640"/>
            <a:ext cx="3515258" cy="2011680"/>
          </a:xfrm>
          <a:prstGeom prst="roundRect">
            <a:avLst>
              <a:gd name="adj" fmla="val 4545"/>
            </a:avLst>
          </a:prstGeom>
          <a:solidFill>
            <a:srgbClr val="E6F2EF"/>
          </a:solidFill>
          <a:ln w="12700">
            <a:solidFill>
              <a:srgbClr val="E6F2EF"/>
            </a:solidFill>
            <a:prstDash val="solid"/>
          </a:ln>
        </p:spPr>
      </p:sp>
      <p:sp>
        <p:nvSpPr>
          <p:cNvPr id="8" name="Text 5"/>
          <p:cNvSpPr txBox="1"/>
          <p:nvPr/>
        </p:nvSpPr>
        <p:spPr>
          <a:xfrm>
            <a:off x="777240" y="187452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Students (finders)</a:t>
            </a:r>
            <a:endParaRPr lang="en-US" sz="1700" dirty="0"/>
          </a:p>
        </p:txBody>
      </p:sp>
      <p:sp>
        <p:nvSpPr>
          <p:cNvPr id="9" name="Text 6"/>
          <p:cNvSpPr txBox="1"/>
          <p:nvPr/>
        </p:nvSpPr>
        <p:spPr>
          <a:xfrm>
            <a:off x="777240" y="228600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Primary user  |  Influence: High</a:t>
            </a:r>
            <a:endParaRPr lang="en-US" sz="1200" dirty="0"/>
          </a:p>
        </p:txBody>
      </p:sp>
      <p:sp>
        <p:nvSpPr>
          <p:cNvPr id="10" name="Text 7"/>
          <p:cNvSpPr txBox="1"/>
          <p:nvPr/>
        </p:nvSpPr>
        <p:spPr>
          <a:xfrm>
            <a:off x="777240" y="260604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Post an item quickly, hand it to the real owner, avoid sharing their number with strangers</a:t>
            </a:r>
            <a:endParaRPr lang="en-US" sz="1400" dirty="0"/>
          </a:p>
        </p:txBody>
      </p:sp>
      <p:sp>
        <p:nvSpPr>
          <p:cNvPr id="11" name="Shape 8"/>
          <p:cNvSpPr/>
          <p:nvPr/>
        </p:nvSpPr>
        <p:spPr>
          <a:xfrm>
            <a:off x="4338218" y="1691640"/>
            <a:ext cx="3515258" cy="2011680"/>
          </a:xfrm>
          <a:prstGeom prst="roundRect">
            <a:avLst>
              <a:gd name="adj" fmla="val 4545"/>
            </a:avLst>
          </a:prstGeom>
          <a:solidFill>
            <a:srgbClr val="E6F2EF"/>
          </a:solidFill>
          <a:ln w="12700">
            <a:solidFill>
              <a:srgbClr val="E6F2EF"/>
            </a:solidFill>
            <a:prstDash val="solid"/>
          </a:ln>
        </p:spPr>
      </p:sp>
      <p:sp>
        <p:nvSpPr>
          <p:cNvPr id="12" name="Text 9"/>
          <p:cNvSpPr txBox="1"/>
          <p:nvPr/>
        </p:nvSpPr>
        <p:spPr>
          <a:xfrm>
            <a:off x="4566818" y="187452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Students (owners)</a:t>
            </a:r>
            <a:endParaRPr lang="en-US" sz="1700" dirty="0"/>
          </a:p>
        </p:txBody>
      </p:sp>
      <p:sp>
        <p:nvSpPr>
          <p:cNvPr id="13" name="Text 10"/>
          <p:cNvSpPr txBox="1"/>
          <p:nvPr/>
        </p:nvSpPr>
        <p:spPr>
          <a:xfrm>
            <a:off x="4566818" y="228600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Primary user  |  Influence: High</a:t>
            </a:r>
            <a:endParaRPr lang="en-US" sz="1200" dirty="0"/>
          </a:p>
        </p:txBody>
      </p:sp>
      <p:sp>
        <p:nvSpPr>
          <p:cNvPr id="14" name="Text 11"/>
          <p:cNvSpPr txBox="1"/>
          <p:nvPr/>
        </p:nvSpPr>
        <p:spPr>
          <a:xfrm>
            <a:off x="4566818" y="260604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Search all found items in one place, prove ownership, track their claim</a:t>
            </a:r>
            <a:endParaRPr lang="en-US" sz="1400" dirty="0"/>
          </a:p>
        </p:txBody>
      </p:sp>
      <p:sp>
        <p:nvSpPr>
          <p:cNvPr id="15" name="Shape 12"/>
          <p:cNvSpPr/>
          <p:nvPr/>
        </p:nvSpPr>
        <p:spPr>
          <a:xfrm>
            <a:off x="8127797" y="1691640"/>
            <a:ext cx="3515258" cy="2011680"/>
          </a:xfrm>
          <a:prstGeom prst="roundRect">
            <a:avLst>
              <a:gd name="adj" fmla="val 4545"/>
            </a:avLst>
          </a:prstGeom>
          <a:solidFill>
            <a:srgbClr val="F3F4F6"/>
          </a:solidFill>
          <a:ln w="12700">
            <a:solidFill>
              <a:srgbClr val="F3F4F6"/>
            </a:solidFill>
            <a:prstDash val="solid"/>
          </a:ln>
        </p:spPr>
      </p:sp>
      <p:sp>
        <p:nvSpPr>
          <p:cNvPr id="16" name="Text 13"/>
          <p:cNvSpPr txBox="1"/>
          <p:nvPr/>
        </p:nvSpPr>
        <p:spPr>
          <a:xfrm>
            <a:off x="8356397" y="187452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Security / lost-and-found desk</a:t>
            </a:r>
            <a:endParaRPr lang="en-US" sz="1700" dirty="0"/>
          </a:p>
        </p:txBody>
      </p:sp>
      <p:sp>
        <p:nvSpPr>
          <p:cNvPr id="17" name="Text 14"/>
          <p:cNvSpPr txBox="1"/>
          <p:nvPr/>
        </p:nvSpPr>
        <p:spPr>
          <a:xfrm>
            <a:off x="8356397" y="228600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Admin user  |  Influence: Medium</a:t>
            </a:r>
            <a:endParaRPr lang="en-US" sz="1200" dirty="0"/>
          </a:p>
        </p:txBody>
      </p:sp>
      <p:sp>
        <p:nvSpPr>
          <p:cNvPr id="18" name="Text 15"/>
          <p:cNvSpPr txBox="1"/>
          <p:nvPr/>
        </p:nvSpPr>
        <p:spPr>
          <a:xfrm>
            <a:off x="8356397" y="260604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Fewer walk-in enquiries, ability to remove spam or wrong posts</a:t>
            </a:r>
            <a:endParaRPr lang="en-US" sz="1400" dirty="0"/>
          </a:p>
        </p:txBody>
      </p:sp>
      <p:sp>
        <p:nvSpPr>
          <p:cNvPr id="19" name="Shape 16"/>
          <p:cNvSpPr/>
          <p:nvPr/>
        </p:nvSpPr>
        <p:spPr>
          <a:xfrm>
            <a:off x="548640" y="3931920"/>
            <a:ext cx="3515258" cy="2011680"/>
          </a:xfrm>
          <a:prstGeom prst="roundRect">
            <a:avLst>
              <a:gd name="adj" fmla="val 4545"/>
            </a:avLst>
          </a:prstGeom>
          <a:solidFill>
            <a:srgbClr val="F3F4F6"/>
          </a:solidFill>
          <a:ln w="12700">
            <a:solidFill>
              <a:srgbClr val="F3F4F6"/>
            </a:solidFill>
            <a:prstDash val="solid"/>
          </a:ln>
        </p:spPr>
      </p:sp>
      <p:sp>
        <p:nvSpPr>
          <p:cNvPr id="20" name="Text 17"/>
          <p:cNvSpPr txBox="1"/>
          <p:nvPr/>
        </p:nvSpPr>
        <p:spPr>
          <a:xfrm>
            <a:off x="777240" y="411480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College administration</a:t>
            </a:r>
            <a:endParaRPr lang="en-US" sz="1700" dirty="0"/>
          </a:p>
        </p:txBody>
      </p:sp>
      <p:sp>
        <p:nvSpPr>
          <p:cNvPr id="21" name="Text 18"/>
          <p:cNvSpPr txBox="1"/>
          <p:nvPr/>
        </p:nvSpPr>
        <p:spPr>
          <a:xfrm>
            <a:off x="777240" y="452628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Sponsor  |  Influence: Medium</a:t>
            </a:r>
            <a:endParaRPr lang="en-US" sz="1200" dirty="0"/>
          </a:p>
        </p:txBody>
      </p:sp>
      <p:sp>
        <p:nvSpPr>
          <p:cNvPr id="22" name="Text 19"/>
          <p:cNvSpPr txBox="1"/>
          <p:nvPr/>
        </p:nvSpPr>
        <p:spPr>
          <a:xfrm>
            <a:off x="777240" y="484632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safer campus with less loss; low cost; protection of student data</a:t>
            </a:r>
            <a:endParaRPr lang="en-US" sz="1400" dirty="0"/>
          </a:p>
        </p:txBody>
      </p:sp>
      <p:sp>
        <p:nvSpPr>
          <p:cNvPr id="23" name="Shape 20"/>
          <p:cNvSpPr/>
          <p:nvPr/>
        </p:nvSpPr>
        <p:spPr>
          <a:xfrm>
            <a:off x="4338218" y="3931920"/>
            <a:ext cx="3515258" cy="2011680"/>
          </a:xfrm>
          <a:prstGeom prst="roundRect">
            <a:avLst>
              <a:gd name="adj" fmla="val 4545"/>
            </a:avLst>
          </a:prstGeom>
          <a:solidFill>
            <a:srgbClr val="F3F4F6"/>
          </a:solidFill>
          <a:ln w="12700">
            <a:solidFill>
              <a:srgbClr val="F3F4F6"/>
            </a:solidFill>
            <a:prstDash val="solid"/>
          </a:ln>
        </p:spPr>
      </p:sp>
      <p:sp>
        <p:nvSpPr>
          <p:cNvPr id="24" name="Text 21"/>
          <p:cNvSpPr txBox="1"/>
          <p:nvPr/>
        </p:nvSpPr>
        <p:spPr>
          <a:xfrm>
            <a:off x="4566818" y="411480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Faculty / course instructor</a:t>
            </a:r>
            <a:endParaRPr lang="en-US" sz="1700" dirty="0"/>
          </a:p>
        </p:txBody>
      </p:sp>
      <p:sp>
        <p:nvSpPr>
          <p:cNvPr id="25" name="Text 22"/>
          <p:cNvSpPr txBox="1"/>
          <p:nvPr/>
        </p:nvSpPr>
        <p:spPr>
          <a:xfrm>
            <a:off x="4566818" y="452628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Evaluator  |  Influence: High</a:t>
            </a:r>
            <a:endParaRPr lang="en-US" sz="1200" dirty="0"/>
          </a:p>
        </p:txBody>
      </p:sp>
      <p:sp>
        <p:nvSpPr>
          <p:cNvPr id="26" name="Text 23"/>
          <p:cNvSpPr txBox="1"/>
          <p:nvPr/>
        </p:nvSpPr>
        <p:spPr>
          <a:xfrm>
            <a:off x="4566818" y="484632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Correct application of SE principles across the SDLC, working demo</a:t>
            </a:r>
            <a:endParaRPr lang="en-US" sz="1400" dirty="0"/>
          </a:p>
        </p:txBody>
      </p:sp>
      <p:sp>
        <p:nvSpPr>
          <p:cNvPr id="27" name="Shape 24"/>
          <p:cNvSpPr/>
          <p:nvPr/>
        </p:nvSpPr>
        <p:spPr>
          <a:xfrm>
            <a:off x="8127797" y="3931920"/>
            <a:ext cx="3515258" cy="2011680"/>
          </a:xfrm>
          <a:prstGeom prst="roundRect">
            <a:avLst>
              <a:gd name="adj" fmla="val 4545"/>
            </a:avLst>
          </a:prstGeom>
          <a:solidFill>
            <a:srgbClr val="F3F4F6"/>
          </a:solidFill>
          <a:ln w="12700">
            <a:solidFill>
              <a:srgbClr val="F3F4F6"/>
            </a:solidFill>
            <a:prstDash val="solid"/>
          </a:ln>
        </p:spPr>
      </p:sp>
      <p:sp>
        <p:nvSpPr>
          <p:cNvPr id="28" name="Text 25"/>
          <p:cNvSpPr txBox="1"/>
          <p:nvPr/>
        </p:nvSpPr>
        <p:spPr>
          <a:xfrm>
            <a:off x="8356397" y="4114800"/>
            <a:ext cx="3149498" cy="41148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Development team (5 students)</a:t>
            </a:r>
            <a:endParaRPr lang="en-US" sz="1700" dirty="0"/>
          </a:p>
        </p:txBody>
      </p:sp>
      <p:sp>
        <p:nvSpPr>
          <p:cNvPr id="29" name="Text 26"/>
          <p:cNvSpPr txBox="1"/>
          <p:nvPr/>
        </p:nvSpPr>
        <p:spPr>
          <a:xfrm>
            <a:off x="8356397" y="4526280"/>
            <a:ext cx="3058058" cy="2743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Builder  |  Influence: High</a:t>
            </a:r>
            <a:endParaRPr lang="en-US" sz="1200" dirty="0"/>
          </a:p>
        </p:txBody>
      </p:sp>
      <p:sp>
        <p:nvSpPr>
          <p:cNvPr id="30" name="Text 27"/>
          <p:cNvSpPr txBox="1"/>
          <p:nvPr/>
        </p:nvSpPr>
        <p:spPr>
          <a:xfrm>
            <a:off x="8356397" y="4846320"/>
            <a:ext cx="3058058"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Clear requirements, a feasible scope within one semester, maintainable code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26898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92150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1  |  Requirements Analysis</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Requirements: 16 functional, 10 non-functional</a:t>
            </a:r>
            <a:endParaRPr lang="en-US" sz="3400" dirty="0"/>
          </a:p>
        </p:txBody>
      </p:sp>
      <p:sp>
        <p:nvSpPr>
          <p:cNvPr id="7" name="Shape 4"/>
          <p:cNvSpPr/>
          <p:nvPr/>
        </p:nvSpPr>
        <p:spPr>
          <a:xfrm>
            <a:off x="548640" y="1691640"/>
            <a:ext cx="6035040" cy="960120"/>
          </a:xfrm>
          <a:prstGeom prst="roundRect">
            <a:avLst>
              <a:gd name="adj" fmla="val 9524"/>
            </a:avLst>
          </a:prstGeom>
          <a:solidFill>
            <a:srgbClr val="E6F2EF"/>
          </a:solidFill>
          <a:ln w="12700">
            <a:solidFill>
              <a:srgbClr val="E6F2EF"/>
            </a:solidFill>
            <a:prstDash val="solid"/>
          </a:ln>
        </p:spPr>
      </p:sp>
      <p:sp>
        <p:nvSpPr>
          <p:cNvPr id="8" name="Text 5"/>
          <p:cNvSpPr txBox="1"/>
          <p:nvPr/>
        </p:nvSpPr>
        <p:spPr>
          <a:xfrm>
            <a:off x="777240" y="1801368"/>
            <a:ext cx="146304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Accounts</a:t>
            </a:r>
            <a:endParaRPr lang="en-US" sz="1800" dirty="0"/>
          </a:p>
        </p:txBody>
      </p:sp>
      <p:sp>
        <p:nvSpPr>
          <p:cNvPr id="9" name="Text 6"/>
          <p:cNvSpPr txBox="1"/>
          <p:nvPr/>
        </p:nvSpPr>
        <p:spPr>
          <a:xfrm>
            <a:off x="777240" y="2194560"/>
            <a:ext cx="1554480" cy="32004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FR-01 - FR-02</a:t>
            </a:r>
            <a:endParaRPr lang="en-US" sz="1200" dirty="0"/>
          </a:p>
        </p:txBody>
      </p:sp>
      <p:sp>
        <p:nvSpPr>
          <p:cNvPr id="10" name="Text 7"/>
          <p:cNvSpPr txBox="1"/>
          <p:nvPr/>
        </p:nvSpPr>
        <p:spPr>
          <a:xfrm>
            <a:off x="2377440" y="1801368"/>
            <a:ext cx="402336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Register with validated email &amp; password, log in / out with a 7-day session</a:t>
            </a:r>
            <a:endParaRPr lang="en-US" sz="1400" dirty="0"/>
          </a:p>
        </p:txBody>
      </p:sp>
      <p:sp>
        <p:nvSpPr>
          <p:cNvPr id="11" name="Shape 8"/>
          <p:cNvSpPr/>
          <p:nvPr/>
        </p:nvSpPr>
        <p:spPr>
          <a:xfrm>
            <a:off x="548640" y="2788920"/>
            <a:ext cx="6035040" cy="960120"/>
          </a:xfrm>
          <a:prstGeom prst="roundRect">
            <a:avLst>
              <a:gd name="adj" fmla="val 9524"/>
            </a:avLst>
          </a:prstGeom>
          <a:solidFill>
            <a:srgbClr val="E6F2EF"/>
          </a:solidFill>
          <a:ln w="12700">
            <a:solidFill>
              <a:srgbClr val="E6F2EF"/>
            </a:solidFill>
            <a:prstDash val="solid"/>
          </a:ln>
        </p:spPr>
      </p:sp>
      <p:sp>
        <p:nvSpPr>
          <p:cNvPr id="12" name="Text 9"/>
          <p:cNvSpPr txBox="1"/>
          <p:nvPr/>
        </p:nvSpPr>
        <p:spPr>
          <a:xfrm>
            <a:off x="777240" y="2898648"/>
            <a:ext cx="146304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Items</a:t>
            </a:r>
            <a:endParaRPr lang="en-US" sz="1800" dirty="0"/>
          </a:p>
        </p:txBody>
      </p:sp>
      <p:sp>
        <p:nvSpPr>
          <p:cNvPr id="13" name="Text 10"/>
          <p:cNvSpPr txBox="1"/>
          <p:nvPr/>
        </p:nvSpPr>
        <p:spPr>
          <a:xfrm>
            <a:off x="777240" y="3291840"/>
            <a:ext cx="1554480" cy="32004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FR-08 - FR-11</a:t>
            </a:r>
            <a:endParaRPr lang="en-US" sz="1200" dirty="0"/>
          </a:p>
        </p:txBody>
      </p:sp>
      <p:sp>
        <p:nvSpPr>
          <p:cNvPr id="14" name="Text 11"/>
          <p:cNvSpPr txBox="1"/>
          <p:nvPr/>
        </p:nvSpPr>
        <p:spPr>
          <a:xfrm>
            <a:off x="2377440" y="2898648"/>
            <a:ext cx="402336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Post found / lost items with optional photo, edit, delete, "My posts"</a:t>
            </a:r>
            <a:endParaRPr lang="en-US" sz="1400" dirty="0"/>
          </a:p>
        </p:txBody>
      </p:sp>
      <p:sp>
        <p:nvSpPr>
          <p:cNvPr id="15" name="Shape 12"/>
          <p:cNvSpPr/>
          <p:nvPr/>
        </p:nvSpPr>
        <p:spPr>
          <a:xfrm>
            <a:off x="548640" y="3886200"/>
            <a:ext cx="6035040" cy="960120"/>
          </a:xfrm>
          <a:prstGeom prst="roundRect">
            <a:avLst>
              <a:gd name="adj" fmla="val 9524"/>
            </a:avLst>
          </a:prstGeom>
          <a:solidFill>
            <a:srgbClr val="E6F2EF"/>
          </a:solidFill>
          <a:ln w="12700">
            <a:solidFill>
              <a:srgbClr val="E6F2EF"/>
            </a:solidFill>
            <a:prstDash val="solid"/>
          </a:ln>
        </p:spPr>
      </p:sp>
      <p:sp>
        <p:nvSpPr>
          <p:cNvPr id="16" name="Text 13"/>
          <p:cNvSpPr txBox="1"/>
          <p:nvPr/>
        </p:nvSpPr>
        <p:spPr>
          <a:xfrm>
            <a:off x="777240" y="3995928"/>
            <a:ext cx="146304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Search</a:t>
            </a:r>
            <a:endParaRPr lang="en-US" sz="1800" dirty="0"/>
          </a:p>
        </p:txBody>
      </p:sp>
      <p:sp>
        <p:nvSpPr>
          <p:cNvPr id="17" name="Text 14"/>
          <p:cNvSpPr txBox="1"/>
          <p:nvPr/>
        </p:nvSpPr>
        <p:spPr>
          <a:xfrm>
            <a:off x="777240" y="4389120"/>
            <a:ext cx="1554480" cy="32004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FR-03 - FR-07, FR-16</a:t>
            </a:r>
            <a:endParaRPr lang="en-US" sz="1200" dirty="0"/>
          </a:p>
        </p:txBody>
      </p:sp>
      <p:sp>
        <p:nvSpPr>
          <p:cNvPr id="18" name="Text 15"/>
          <p:cNvSpPr txBox="1"/>
          <p:nvPr/>
        </p:nvSpPr>
        <p:spPr>
          <a:xfrm>
            <a:off x="2377440" y="3995928"/>
            <a:ext cx="402336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Browse, keyword search, filters, pagination, contact privacy, stats</a:t>
            </a:r>
            <a:endParaRPr lang="en-US" sz="1400" dirty="0"/>
          </a:p>
        </p:txBody>
      </p:sp>
      <p:sp>
        <p:nvSpPr>
          <p:cNvPr id="19" name="Shape 16"/>
          <p:cNvSpPr/>
          <p:nvPr/>
        </p:nvSpPr>
        <p:spPr>
          <a:xfrm>
            <a:off x="548640" y="4983480"/>
            <a:ext cx="6035040" cy="960120"/>
          </a:xfrm>
          <a:prstGeom prst="roundRect">
            <a:avLst>
              <a:gd name="adj" fmla="val 9524"/>
            </a:avLst>
          </a:prstGeom>
          <a:solidFill>
            <a:srgbClr val="E6F2EF"/>
          </a:solidFill>
          <a:ln w="12700">
            <a:solidFill>
              <a:srgbClr val="E6F2EF"/>
            </a:solidFill>
            <a:prstDash val="solid"/>
          </a:ln>
        </p:spPr>
      </p:sp>
      <p:sp>
        <p:nvSpPr>
          <p:cNvPr id="20" name="Text 17"/>
          <p:cNvSpPr txBox="1"/>
          <p:nvPr/>
        </p:nvSpPr>
        <p:spPr>
          <a:xfrm>
            <a:off x="777240" y="5093208"/>
            <a:ext cx="146304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Claims</a:t>
            </a:r>
            <a:endParaRPr lang="en-US" sz="1800" dirty="0"/>
          </a:p>
        </p:txBody>
      </p:sp>
      <p:sp>
        <p:nvSpPr>
          <p:cNvPr id="21" name="Text 18"/>
          <p:cNvSpPr txBox="1"/>
          <p:nvPr/>
        </p:nvSpPr>
        <p:spPr>
          <a:xfrm>
            <a:off x="777240" y="5486400"/>
            <a:ext cx="1554480" cy="32004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FR-12 - FR-15</a:t>
            </a:r>
            <a:endParaRPr lang="en-US" sz="1200" dirty="0"/>
          </a:p>
        </p:txBody>
      </p:sp>
      <p:sp>
        <p:nvSpPr>
          <p:cNvPr id="22" name="Text 19"/>
          <p:cNvSpPr txBox="1"/>
          <p:nvPr/>
        </p:nvSpPr>
        <p:spPr>
          <a:xfrm>
            <a:off x="2377440" y="5093208"/>
            <a:ext cx="402336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Claim with proof, one per item; poster approves; item marked returned</a:t>
            </a:r>
            <a:endParaRPr lang="en-US" sz="1400" dirty="0"/>
          </a:p>
        </p:txBody>
      </p:sp>
      <p:sp>
        <p:nvSpPr>
          <p:cNvPr id="23" name="Text 20"/>
          <p:cNvSpPr txBox="1"/>
          <p:nvPr/>
        </p:nvSpPr>
        <p:spPr>
          <a:xfrm>
            <a:off x="6995160" y="1691640"/>
            <a:ext cx="457200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Key non-functional requirements</a:t>
            </a:r>
            <a:endParaRPr lang="en-US" sz="1800" dirty="0"/>
          </a:p>
        </p:txBody>
      </p:sp>
      <p:sp>
        <p:nvSpPr>
          <p:cNvPr id="24" name="Text 21"/>
          <p:cNvSpPr txBox="1"/>
          <p:nvPr/>
        </p:nvSpPr>
        <p:spPr>
          <a:xfrm>
            <a:off x="6995160" y="2148840"/>
            <a:ext cx="4663440" cy="402336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Security</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bcrypt-hashed passwords, JWT sessions, ownership check on every change</a:t>
            </a:r>
            <a:endParaRPr lang="en-US" sz="1500" dirty="0"/>
          </a:p>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Privacy</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email &amp; phone visible only to logged-in users</a:t>
            </a:r>
            <a:endParaRPr lang="en-US" sz="1500" dirty="0"/>
          </a:p>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Validation</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clear messages and correct status codes, never a crash</a:t>
            </a:r>
            <a:endParaRPr lang="en-US" sz="1500" dirty="0"/>
          </a:p>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Upload safety</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images only, max 5 MB, random file names</a:t>
            </a:r>
            <a:endParaRPr lang="en-US" sz="1500" dirty="0"/>
          </a:p>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Integrity</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an item can be returned to only one person</a:t>
            </a:r>
            <a:endParaRPr lang="en-US" sz="1500" dirty="0"/>
          </a:p>
          <a:p>
            <a:pPr marL="203200" indent="-203200">
              <a:spcAft>
                <a:spcPts val="1000"/>
              </a:spcAft>
              <a:buSzPct val="100000"/>
              <a:buChar char="•"/>
            </a:pPr>
            <a:r>
              <a:rPr lang="en-US" sz="1500" b="1" dirty="0">
                <a:solidFill>
                  <a:srgbClr val="1F2937"/>
                </a:solidFill>
                <a:latin typeface="Calibri" pitchFamily="34" charset="0"/>
                <a:ea typeface="Calibri" pitchFamily="34" charset="-122"/>
                <a:cs typeface="Calibri" pitchFamily="34" charset="-120"/>
              </a:rPr>
              <a:t>Usability</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claim an item in 3 screens; works on phones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26898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92150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1  |  Requirements Analysis</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Feasibility analysis</a:t>
            </a:r>
            <a:endParaRPr lang="en-US" sz="3400" dirty="0"/>
          </a:p>
        </p:txBody>
      </p:sp>
      <p:sp>
        <p:nvSpPr>
          <p:cNvPr id="7" name="Shape 4"/>
          <p:cNvSpPr/>
          <p:nvPr/>
        </p:nvSpPr>
        <p:spPr>
          <a:xfrm>
            <a:off x="548640" y="1691640"/>
            <a:ext cx="2036003" cy="2514600"/>
          </a:xfrm>
          <a:prstGeom prst="roundRect">
            <a:avLst>
              <a:gd name="adj" fmla="val 4491"/>
            </a:avLst>
          </a:prstGeom>
          <a:solidFill>
            <a:srgbClr val="E6F2EF"/>
          </a:solidFill>
          <a:ln w="12700">
            <a:solidFill>
              <a:srgbClr val="E6F2EF"/>
            </a:solidFill>
            <a:prstDash val="solid"/>
          </a:ln>
        </p:spPr>
      </p:sp>
      <p:sp>
        <p:nvSpPr>
          <p:cNvPr id="8" name="Text 5"/>
          <p:cNvSpPr txBox="1"/>
          <p:nvPr/>
        </p:nvSpPr>
        <p:spPr>
          <a:xfrm>
            <a:off x="731520" y="1828800"/>
            <a:ext cx="1670243"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Technical</a:t>
            </a:r>
            <a:endParaRPr lang="en-US" sz="1800" dirty="0"/>
          </a:p>
        </p:txBody>
      </p:sp>
      <p:sp>
        <p:nvSpPr>
          <p:cNvPr id="9" name="Text 6"/>
          <p:cNvSpPr txBox="1"/>
          <p:nvPr/>
        </p:nvSpPr>
        <p:spPr>
          <a:xfrm>
            <a:off x="731520" y="2240280"/>
            <a:ext cx="1670243"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Free, mature MERN stack and libraries for auth, upload and search.</a:t>
            </a:r>
            <a:endParaRPr lang="en-US" sz="1400" dirty="0"/>
          </a:p>
        </p:txBody>
      </p:sp>
      <p:sp>
        <p:nvSpPr>
          <p:cNvPr id="10" name="Shape 7"/>
          <p:cNvSpPr/>
          <p:nvPr/>
        </p:nvSpPr>
        <p:spPr>
          <a:xfrm>
            <a:off x="731520" y="3703320"/>
            <a:ext cx="1325880" cy="329184"/>
          </a:xfrm>
          <a:prstGeom prst="roundRect">
            <a:avLst>
              <a:gd name="adj" fmla="val 22222"/>
            </a:avLst>
          </a:prstGeom>
          <a:solidFill>
            <a:srgbClr val="0F766E"/>
          </a:solidFill>
          <a:ln w="12700">
            <a:solidFill>
              <a:srgbClr val="0F766E"/>
            </a:solidFill>
            <a:prstDash val="solid"/>
          </a:ln>
        </p:spPr>
      </p:sp>
      <p:sp>
        <p:nvSpPr>
          <p:cNvPr id="11" name="Shape 8"/>
          <p:cNvSpPr/>
          <p:nvPr/>
        </p:nvSpPr>
        <p:spPr>
          <a:xfrm>
            <a:off x="841248" y="3813048"/>
            <a:ext cx="109728" cy="109728"/>
          </a:xfrm>
          <a:prstGeom prst="ellipse">
            <a:avLst/>
          </a:prstGeom>
          <a:solidFill>
            <a:srgbClr val="FFFFFF"/>
          </a:solidFill>
          <a:ln w="12700">
            <a:solidFill>
              <a:srgbClr val="FFFFFF"/>
            </a:solidFill>
            <a:prstDash val="solid"/>
          </a:ln>
        </p:spPr>
      </p:sp>
      <p:sp>
        <p:nvSpPr>
          <p:cNvPr id="12" name="Text 9"/>
          <p:cNvSpPr txBox="1"/>
          <p:nvPr/>
        </p:nvSpPr>
        <p:spPr>
          <a:xfrm>
            <a:off x="1024128" y="3703320"/>
            <a:ext cx="978408"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p>
        </p:txBody>
      </p:sp>
      <p:sp>
        <p:nvSpPr>
          <p:cNvPr id="13" name="Shape 10"/>
          <p:cNvSpPr/>
          <p:nvPr/>
        </p:nvSpPr>
        <p:spPr>
          <a:xfrm>
            <a:off x="2813243" y="1691640"/>
            <a:ext cx="2036003" cy="2514600"/>
          </a:xfrm>
          <a:prstGeom prst="roundRect">
            <a:avLst>
              <a:gd name="adj" fmla="val 4491"/>
            </a:avLst>
          </a:prstGeom>
          <a:solidFill>
            <a:srgbClr val="E6F2EF"/>
          </a:solidFill>
          <a:ln w="12700">
            <a:solidFill>
              <a:srgbClr val="E6F2EF"/>
            </a:solidFill>
            <a:prstDash val="solid"/>
          </a:ln>
        </p:spPr>
      </p:sp>
      <p:sp>
        <p:nvSpPr>
          <p:cNvPr id="14" name="Text 11"/>
          <p:cNvSpPr txBox="1"/>
          <p:nvPr/>
        </p:nvSpPr>
        <p:spPr>
          <a:xfrm>
            <a:off x="2996123" y="1828800"/>
            <a:ext cx="1670243"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Economic</a:t>
            </a:r>
            <a:endParaRPr lang="en-US" sz="1800" dirty="0"/>
          </a:p>
        </p:txBody>
      </p:sp>
      <p:sp>
        <p:nvSpPr>
          <p:cNvPr id="15" name="Text 12"/>
          <p:cNvSpPr txBox="1"/>
          <p:nvPr/>
        </p:nvSpPr>
        <p:spPr>
          <a:xfrm>
            <a:off x="2996123" y="2240280"/>
            <a:ext cx="1670243"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All open source; runs on a student laptop. Licence cost: Rs. 0.</a:t>
            </a:r>
            <a:endParaRPr lang="en-US" sz="1400" dirty="0"/>
          </a:p>
        </p:txBody>
      </p:sp>
      <p:sp>
        <p:nvSpPr>
          <p:cNvPr id="16" name="Shape 13"/>
          <p:cNvSpPr/>
          <p:nvPr/>
        </p:nvSpPr>
        <p:spPr>
          <a:xfrm>
            <a:off x="2996123" y="3703320"/>
            <a:ext cx="1325880" cy="329184"/>
          </a:xfrm>
          <a:prstGeom prst="roundRect">
            <a:avLst>
              <a:gd name="adj" fmla="val 22222"/>
            </a:avLst>
          </a:prstGeom>
          <a:solidFill>
            <a:srgbClr val="0F766E"/>
          </a:solidFill>
          <a:ln w="12700">
            <a:solidFill>
              <a:srgbClr val="0F766E"/>
            </a:solidFill>
            <a:prstDash val="solid"/>
          </a:ln>
        </p:spPr>
      </p:sp>
      <p:sp>
        <p:nvSpPr>
          <p:cNvPr id="17" name="Shape 14"/>
          <p:cNvSpPr/>
          <p:nvPr/>
        </p:nvSpPr>
        <p:spPr>
          <a:xfrm>
            <a:off x="3105851" y="3813048"/>
            <a:ext cx="109728" cy="109728"/>
          </a:xfrm>
          <a:prstGeom prst="ellipse">
            <a:avLst/>
          </a:prstGeom>
          <a:solidFill>
            <a:srgbClr val="FFFFFF"/>
          </a:solidFill>
          <a:ln w="12700">
            <a:solidFill>
              <a:srgbClr val="FFFFFF"/>
            </a:solidFill>
            <a:prstDash val="solid"/>
          </a:ln>
        </p:spPr>
      </p:sp>
      <p:sp>
        <p:nvSpPr>
          <p:cNvPr id="18" name="Text 15"/>
          <p:cNvSpPr txBox="1"/>
          <p:nvPr/>
        </p:nvSpPr>
        <p:spPr>
          <a:xfrm>
            <a:off x="3288731" y="3703320"/>
            <a:ext cx="978408"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p>
        </p:txBody>
      </p:sp>
      <p:sp>
        <p:nvSpPr>
          <p:cNvPr id="19" name="Shape 16"/>
          <p:cNvSpPr/>
          <p:nvPr/>
        </p:nvSpPr>
        <p:spPr>
          <a:xfrm>
            <a:off x="5077846" y="1691640"/>
            <a:ext cx="2036003" cy="2514600"/>
          </a:xfrm>
          <a:prstGeom prst="roundRect">
            <a:avLst>
              <a:gd name="adj" fmla="val 4491"/>
            </a:avLst>
          </a:prstGeom>
          <a:solidFill>
            <a:srgbClr val="E6F2EF"/>
          </a:solidFill>
          <a:ln w="12700">
            <a:solidFill>
              <a:srgbClr val="E6F2EF"/>
            </a:solidFill>
            <a:prstDash val="solid"/>
          </a:ln>
        </p:spPr>
      </p:sp>
      <p:sp>
        <p:nvSpPr>
          <p:cNvPr id="20" name="Text 17"/>
          <p:cNvSpPr txBox="1"/>
          <p:nvPr/>
        </p:nvSpPr>
        <p:spPr>
          <a:xfrm>
            <a:off x="5260726" y="1828800"/>
            <a:ext cx="1670243"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Operational</a:t>
            </a:r>
            <a:endParaRPr lang="en-US" sz="1800" dirty="0"/>
          </a:p>
        </p:txBody>
      </p:sp>
      <p:sp>
        <p:nvSpPr>
          <p:cNvPr id="21" name="Text 18"/>
          <p:cNvSpPr txBox="1"/>
          <p:nvPr/>
        </p:nvSpPr>
        <p:spPr>
          <a:xfrm>
            <a:off x="5260726" y="2240280"/>
            <a:ext cx="1670243"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Familiar post -&gt; search -&gt; claim flow; no training needed.</a:t>
            </a:r>
            <a:endParaRPr lang="en-US" sz="1400" dirty="0"/>
          </a:p>
        </p:txBody>
      </p:sp>
      <p:sp>
        <p:nvSpPr>
          <p:cNvPr id="22" name="Shape 19"/>
          <p:cNvSpPr/>
          <p:nvPr/>
        </p:nvSpPr>
        <p:spPr>
          <a:xfrm>
            <a:off x="5260726" y="3703320"/>
            <a:ext cx="1325880" cy="329184"/>
          </a:xfrm>
          <a:prstGeom prst="roundRect">
            <a:avLst>
              <a:gd name="adj" fmla="val 22222"/>
            </a:avLst>
          </a:prstGeom>
          <a:solidFill>
            <a:srgbClr val="0F766E"/>
          </a:solidFill>
          <a:ln w="12700">
            <a:solidFill>
              <a:srgbClr val="0F766E"/>
            </a:solidFill>
            <a:prstDash val="solid"/>
          </a:ln>
        </p:spPr>
      </p:sp>
      <p:sp>
        <p:nvSpPr>
          <p:cNvPr id="23" name="Shape 20"/>
          <p:cNvSpPr/>
          <p:nvPr/>
        </p:nvSpPr>
        <p:spPr>
          <a:xfrm>
            <a:off x="5370454" y="3813048"/>
            <a:ext cx="109728" cy="109728"/>
          </a:xfrm>
          <a:prstGeom prst="ellipse">
            <a:avLst/>
          </a:prstGeom>
          <a:solidFill>
            <a:srgbClr val="FFFFFF"/>
          </a:solidFill>
          <a:ln w="12700">
            <a:solidFill>
              <a:srgbClr val="FFFFFF"/>
            </a:solidFill>
            <a:prstDash val="solid"/>
          </a:ln>
        </p:spPr>
      </p:sp>
      <p:sp>
        <p:nvSpPr>
          <p:cNvPr id="24" name="Text 21"/>
          <p:cNvSpPr txBox="1"/>
          <p:nvPr/>
        </p:nvSpPr>
        <p:spPr>
          <a:xfrm>
            <a:off x="5553334" y="3703320"/>
            <a:ext cx="978408"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p>
        </p:txBody>
      </p:sp>
      <p:sp>
        <p:nvSpPr>
          <p:cNvPr id="25" name="Shape 22"/>
          <p:cNvSpPr/>
          <p:nvPr/>
        </p:nvSpPr>
        <p:spPr>
          <a:xfrm>
            <a:off x="7342449" y="1691640"/>
            <a:ext cx="2036003" cy="2514600"/>
          </a:xfrm>
          <a:prstGeom prst="roundRect">
            <a:avLst>
              <a:gd name="adj" fmla="val 4491"/>
            </a:avLst>
          </a:prstGeom>
          <a:solidFill>
            <a:srgbClr val="E6F2EF"/>
          </a:solidFill>
          <a:ln w="12700">
            <a:solidFill>
              <a:srgbClr val="E6F2EF"/>
            </a:solidFill>
            <a:prstDash val="solid"/>
          </a:ln>
        </p:spPr>
      </p:sp>
      <p:sp>
        <p:nvSpPr>
          <p:cNvPr id="26" name="Text 23"/>
          <p:cNvSpPr txBox="1"/>
          <p:nvPr/>
        </p:nvSpPr>
        <p:spPr>
          <a:xfrm>
            <a:off x="7525329" y="1828800"/>
            <a:ext cx="1670243"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Schedule</a:t>
            </a:r>
            <a:endParaRPr lang="en-US" sz="1800" dirty="0"/>
          </a:p>
        </p:txBody>
      </p:sp>
      <p:sp>
        <p:nvSpPr>
          <p:cNvPr id="27" name="Text 24"/>
          <p:cNvSpPr txBox="1"/>
          <p:nvPr/>
        </p:nvSpPr>
        <p:spPr>
          <a:xfrm>
            <a:off x="7525329" y="2240280"/>
            <a:ext cx="1670243"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Scope cut to fit one semester; extras moved to future work.</a:t>
            </a:r>
            <a:endParaRPr lang="en-US" sz="1400" dirty="0"/>
          </a:p>
        </p:txBody>
      </p:sp>
      <p:sp>
        <p:nvSpPr>
          <p:cNvPr id="28" name="Shape 25"/>
          <p:cNvSpPr/>
          <p:nvPr/>
        </p:nvSpPr>
        <p:spPr>
          <a:xfrm>
            <a:off x="7525329" y="3703320"/>
            <a:ext cx="1325880" cy="329184"/>
          </a:xfrm>
          <a:prstGeom prst="roundRect">
            <a:avLst>
              <a:gd name="adj" fmla="val 22222"/>
            </a:avLst>
          </a:prstGeom>
          <a:solidFill>
            <a:srgbClr val="0F766E"/>
          </a:solidFill>
          <a:ln w="12700">
            <a:solidFill>
              <a:srgbClr val="0F766E"/>
            </a:solidFill>
            <a:prstDash val="solid"/>
          </a:ln>
        </p:spPr>
      </p:sp>
      <p:sp>
        <p:nvSpPr>
          <p:cNvPr id="29" name="Shape 26"/>
          <p:cNvSpPr/>
          <p:nvPr/>
        </p:nvSpPr>
        <p:spPr>
          <a:xfrm>
            <a:off x="7635057" y="3813048"/>
            <a:ext cx="109728" cy="109728"/>
          </a:xfrm>
          <a:prstGeom prst="ellipse">
            <a:avLst/>
          </a:prstGeom>
          <a:solidFill>
            <a:srgbClr val="FFFFFF"/>
          </a:solidFill>
          <a:ln w="12700">
            <a:solidFill>
              <a:srgbClr val="FFFFFF"/>
            </a:solidFill>
            <a:prstDash val="solid"/>
          </a:ln>
        </p:spPr>
      </p:sp>
      <p:sp>
        <p:nvSpPr>
          <p:cNvPr id="30" name="Text 27"/>
          <p:cNvSpPr txBox="1"/>
          <p:nvPr/>
        </p:nvSpPr>
        <p:spPr>
          <a:xfrm>
            <a:off x="7817937" y="3703320"/>
            <a:ext cx="978408"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p>
        </p:txBody>
      </p:sp>
      <p:sp>
        <p:nvSpPr>
          <p:cNvPr id="31" name="Shape 28"/>
          <p:cNvSpPr/>
          <p:nvPr/>
        </p:nvSpPr>
        <p:spPr>
          <a:xfrm>
            <a:off x="9607052" y="1691640"/>
            <a:ext cx="2036003" cy="2514600"/>
          </a:xfrm>
          <a:prstGeom prst="roundRect">
            <a:avLst>
              <a:gd name="adj" fmla="val 4491"/>
            </a:avLst>
          </a:prstGeom>
          <a:solidFill>
            <a:srgbClr val="E6F2EF"/>
          </a:solidFill>
          <a:ln w="12700">
            <a:solidFill>
              <a:srgbClr val="E6F2EF"/>
            </a:solidFill>
            <a:prstDash val="solid"/>
          </a:ln>
        </p:spPr>
      </p:sp>
      <p:sp>
        <p:nvSpPr>
          <p:cNvPr id="32" name="Text 29"/>
          <p:cNvSpPr txBox="1"/>
          <p:nvPr/>
        </p:nvSpPr>
        <p:spPr>
          <a:xfrm>
            <a:off x="9789932" y="1828800"/>
            <a:ext cx="1670243"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Legal / ethical</a:t>
            </a:r>
            <a:endParaRPr lang="en-US" sz="1800" dirty="0"/>
          </a:p>
        </p:txBody>
      </p:sp>
      <p:sp>
        <p:nvSpPr>
          <p:cNvPr id="33" name="Text 30"/>
          <p:cNvSpPr txBox="1"/>
          <p:nvPr/>
        </p:nvSpPr>
        <p:spPr>
          <a:xfrm>
            <a:off x="9789932" y="2240280"/>
            <a:ext cx="1670243"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Minimal personal data, hashed passwords, contacts hidden.</a:t>
            </a:r>
            <a:endParaRPr lang="en-US" sz="1400" dirty="0"/>
          </a:p>
        </p:txBody>
      </p:sp>
      <p:sp>
        <p:nvSpPr>
          <p:cNvPr id="34" name="Shape 31"/>
          <p:cNvSpPr/>
          <p:nvPr/>
        </p:nvSpPr>
        <p:spPr>
          <a:xfrm>
            <a:off x="9789932" y="3703320"/>
            <a:ext cx="1325880" cy="329184"/>
          </a:xfrm>
          <a:prstGeom prst="roundRect">
            <a:avLst>
              <a:gd name="adj" fmla="val 22222"/>
            </a:avLst>
          </a:prstGeom>
          <a:solidFill>
            <a:srgbClr val="0F766E"/>
          </a:solidFill>
          <a:ln w="12700">
            <a:solidFill>
              <a:srgbClr val="0F766E"/>
            </a:solidFill>
            <a:prstDash val="solid"/>
          </a:ln>
        </p:spPr>
      </p:sp>
      <p:sp>
        <p:nvSpPr>
          <p:cNvPr id="35" name="Shape 32"/>
          <p:cNvSpPr/>
          <p:nvPr/>
        </p:nvSpPr>
        <p:spPr>
          <a:xfrm>
            <a:off x="9899660" y="3813048"/>
            <a:ext cx="109728" cy="109728"/>
          </a:xfrm>
          <a:prstGeom prst="ellipse">
            <a:avLst/>
          </a:prstGeom>
          <a:solidFill>
            <a:srgbClr val="FFFFFF"/>
          </a:solidFill>
          <a:ln w="12700">
            <a:solidFill>
              <a:srgbClr val="FFFFFF"/>
            </a:solidFill>
            <a:prstDash val="solid"/>
          </a:ln>
        </p:spPr>
      </p:sp>
      <p:sp>
        <p:nvSpPr>
          <p:cNvPr id="36" name="Text 33"/>
          <p:cNvSpPr txBox="1"/>
          <p:nvPr/>
        </p:nvSpPr>
        <p:spPr>
          <a:xfrm>
            <a:off x="10082540" y="3703320"/>
            <a:ext cx="978408"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p>
        </p:txBody>
      </p:sp>
      <p:sp>
        <p:nvSpPr>
          <p:cNvPr id="37" name="Text 34"/>
          <p:cNvSpPr txBox="1"/>
          <p:nvPr/>
        </p:nvSpPr>
        <p:spPr>
          <a:xfrm>
            <a:off x="548640" y="4526280"/>
            <a:ext cx="4572000" cy="320040"/>
          </a:xfrm>
          <a:prstGeom prst="rect">
            <a:avLst/>
          </a:prstGeom>
          <a:noFill/>
          <a:ln/>
        </p:spPr>
        <p:txBody>
          <a:bodyPr wrap="square" lIns="0" tIns="0" rIns="0" bIns="0" rtlCol="0" anchor="t"/>
          <a:lstStyle/>
          <a:p>
            <a:pPr indent="0" marL="0">
              <a:buNone/>
            </a:pPr>
            <a:r>
              <a:rPr lang="en-US" sz="1500" b="1" dirty="0">
                <a:solidFill>
                  <a:srgbClr val="0B3B37"/>
                </a:solidFill>
                <a:latin typeface="Calibri" pitchFamily="34" charset="0"/>
                <a:ea typeface="Calibri" pitchFamily="34" charset="-122"/>
                <a:cs typeface="Calibri" pitchFamily="34" charset="-120"/>
              </a:rPr>
              <a:t>Schedule (12 weeks)</a:t>
            </a:r>
            <a:endParaRPr lang="en-US" sz="1500" dirty="0"/>
          </a:p>
        </p:txBody>
      </p:sp>
      <p:sp>
        <p:nvSpPr>
          <p:cNvPr id="38" name="Shape 35"/>
          <p:cNvSpPr/>
          <p:nvPr/>
        </p:nvSpPr>
        <p:spPr>
          <a:xfrm>
            <a:off x="548640" y="4937760"/>
            <a:ext cx="1794205" cy="548640"/>
          </a:xfrm>
          <a:prstGeom prst="rect">
            <a:avLst/>
          </a:prstGeom>
          <a:solidFill>
            <a:srgbClr val="0F766E"/>
          </a:solidFill>
          <a:ln w="12700">
            <a:solidFill>
              <a:srgbClr val="0F766E"/>
            </a:solidFill>
            <a:prstDash val="solid"/>
          </a:ln>
        </p:spPr>
      </p:sp>
      <p:sp>
        <p:nvSpPr>
          <p:cNvPr id="39" name="Text 36"/>
          <p:cNvSpPr txBox="1"/>
          <p:nvPr/>
        </p:nvSpPr>
        <p:spPr>
          <a:xfrm>
            <a:off x="640080" y="4937760"/>
            <a:ext cx="1611325"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Requirements</a:t>
            </a:r>
            <a:endParaRPr lang="en-US" sz="1300" dirty="0"/>
          </a:p>
        </p:txBody>
      </p:sp>
      <p:sp>
        <p:nvSpPr>
          <p:cNvPr id="40" name="Text 37"/>
          <p:cNvSpPr txBox="1"/>
          <p:nvPr/>
        </p:nvSpPr>
        <p:spPr>
          <a:xfrm>
            <a:off x="548640" y="5532120"/>
            <a:ext cx="1794205" cy="2743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Wk 1-2</a:t>
            </a:r>
            <a:endParaRPr lang="en-US" sz="1100" dirty="0"/>
          </a:p>
        </p:txBody>
      </p:sp>
      <p:sp>
        <p:nvSpPr>
          <p:cNvPr id="41" name="Shape 38"/>
          <p:cNvSpPr/>
          <p:nvPr/>
        </p:nvSpPr>
        <p:spPr>
          <a:xfrm>
            <a:off x="2397709" y="4937760"/>
            <a:ext cx="1794205" cy="548640"/>
          </a:xfrm>
          <a:prstGeom prst="rect">
            <a:avLst/>
          </a:prstGeom>
          <a:solidFill>
            <a:srgbClr val="138A80"/>
          </a:solidFill>
          <a:ln w="12700">
            <a:solidFill>
              <a:srgbClr val="138A80"/>
            </a:solidFill>
            <a:prstDash val="solid"/>
          </a:ln>
        </p:spPr>
      </p:sp>
      <p:sp>
        <p:nvSpPr>
          <p:cNvPr id="42" name="Text 39"/>
          <p:cNvSpPr txBox="1"/>
          <p:nvPr/>
        </p:nvSpPr>
        <p:spPr>
          <a:xfrm>
            <a:off x="2489149" y="4937760"/>
            <a:ext cx="1611325"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p>
        </p:txBody>
      </p:sp>
      <p:sp>
        <p:nvSpPr>
          <p:cNvPr id="43" name="Text 40"/>
          <p:cNvSpPr txBox="1"/>
          <p:nvPr/>
        </p:nvSpPr>
        <p:spPr>
          <a:xfrm>
            <a:off x="2397709" y="5532120"/>
            <a:ext cx="1794205" cy="2743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Wk 3-4</a:t>
            </a:r>
            <a:endParaRPr lang="en-US" sz="1100" dirty="0"/>
          </a:p>
        </p:txBody>
      </p:sp>
      <p:sp>
        <p:nvSpPr>
          <p:cNvPr id="44" name="Shape 41"/>
          <p:cNvSpPr/>
          <p:nvPr/>
        </p:nvSpPr>
        <p:spPr>
          <a:xfrm>
            <a:off x="4246778" y="4937760"/>
            <a:ext cx="3643274" cy="548640"/>
          </a:xfrm>
          <a:prstGeom prst="rect">
            <a:avLst/>
          </a:prstGeom>
          <a:solidFill>
            <a:srgbClr val="1AA090"/>
          </a:solidFill>
          <a:ln w="12700">
            <a:solidFill>
              <a:srgbClr val="1AA090"/>
            </a:solidFill>
            <a:prstDash val="solid"/>
          </a:ln>
        </p:spPr>
      </p:sp>
      <p:sp>
        <p:nvSpPr>
          <p:cNvPr id="45" name="Text 42"/>
          <p:cNvSpPr txBox="1"/>
          <p:nvPr/>
        </p:nvSpPr>
        <p:spPr>
          <a:xfrm>
            <a:off x="4338218" y="4937760"/>
            <a:ext cx="3460394"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Development</a:t>
            </a:r>
            <a:endParaRPr lang="en-US" sz="1300" dirty="0"/>
          </a:p>
        </p:txBody>
      </p:sp>
      <p:sp>
        <p:nvSpPr>
          <p:cNvPr id="46" name="Text 43"/>
          <p:cNvSpPr txBox="1"/>
          <p:nvPr/>
        </p:nvSpPr>
        <p:spPr>
          <a:xfrm>
            <a:off x="4246778" y="5532120"/>
            <a:ext cx="3643274" cy="2743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Wk 5-8</a:t>
            </a:r>
            <a:endParaRPr lang="en-US" sz="1100" dirty="0"/>
          </a:p>
        </p:txBody>
      </p:sp>
      <p:sp>
        <p:nvSpPr>
          <p:cNvPr id="47" name="Shape 44"/>
          <p:cNvSpPr/>
          <p:nvPr/>
        </p:nvSpPr>
        <p:spPr>
          <a:xfrm>
            <a:off x="7944917" y="4937760"/>
            <a:ext cx="1794205" cy="548640"/>
          </a:xfrm>
          <a:prstGeom prst="rect">
            <a:avLst/>
          </a:prstGeom>
          <a:solidFill>
            <a:srgbClr val="F59E0B"/>
          </a:solidFill>
          <a:ln w="12700">
            <a:solidFill>
              <a:srgbClr val="F59E0B"/>
            </a:solidFill>
            <a:prstDash val="solid"/>
          </a:ln>
        </p:spPr>
      </p:sp>
      <p:sp>
        <p:nvSpPr>
          <p:cNvPr id="48" name="Text 45"/>
          <p:cNvSpPr txBox="1"/>
          <p:nvPr/>
        </p:nvSpPr>
        <p:spPr>
          <a:xfrm>
            <a:off x="8036357" y="4937760"/>
            <a:ext cx="1611325" cy="548640"/>
          </a:xfrm>
          <a:prstGeom prst="rect">
            <a:avLst/>
          </a:prstGeom>
          <a:noFill/>
          <a:ln/>
        </p:spPr>
        <p:txBody>
          <a:bodyPr wrap="square" lIns="0" tIns="0" rIns="0" bIns="0" rtlCol="0" anchor="ctr"/>
          <a:lstStyle/>
          <a:p>
            <a:pPr indent="0" marL="0">
              <a:buNone/>
            </a:pPr>
            <a:r>
              <a:rPr lang="en-US" sz="1300" b="1" dirty="0">
                <a:solidFill>
                  <a:srgbClr val="0B3B37"/>
                </a:solidFill>
                <a:latin typeface="Calibri" pitchFamily="34" charset="0"/>
                <a:ea typeface="Calibri" pitchFamily="34" charset="-122"/>
                <a:cs typeface="Calibri" pitchFamily="34" charset="-120"/>
              </a:rPr>
              <a:t>Testing</a:t>
            </a:r>
            <a:endParaRPr lang="en-US" sz="1300" dirty="0"/>
          </a:p>
        </p:txBody>
      </p:sp>
      <p:sp>
        <p:nvSpPr>
          <p:cNvPr id="49" name="Text 46"/>
          <p:cNvSpPr txBox="1"/>
          <p:nvPr/>
        </p:nvSpPr>
        <p:spPr>
          <a:xfrm>
            <a:off x="7944917" y="5532120"/>
            <a:ext cx="1794205" cy="2743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Wk 9-10</a:t>
            </a:r>
            <a:endParaRPr lang="en-US" sz="1100" dirty="0"/>
          </a:p>
        </p:txBody>
      </p:sp>
      <p:sp>
        <p:nvSpPr>
          <p:cNvPr id="50" name="Shape 47"/>
          <p:cNvSpPr/>
          <p:nvPr/>
        </p:nvSpPr>
        <p:spPr>
          <a:xfrm>
            <a:off x="9793986" y="4937760"/>
            <a:ext cx="1794205" cy="548640"/>
          </a:xfrm>
          <a:prstGeom prst="rect">
            <a:avLst/>
          </a:prstGeom>
          <a:solidFill>
            <a:srgbClr val="D97706"/>
          </a:solidFill>
          <a:ln w="12700">
            <a:solidFill>
              <a:srgbClr val="D97706"/>
            </a:solidFill>
            <a:prstDash val="solid"/>
          </a:ln>
        </p:spPr>
      </p:sp>
      <p:sp>
        <p:nvSpPr>
          <p:cNvPr id="51" name="Text 48"/>
          <p:cNvSpPr txBox="1"/>
          <p:nvPr/>
        </p:nvSpPr>
        <p:spPr>
          <a:xfrm>
            <a:off x="9885426" y="4937760"/>
            <a:ext cx="1611325" cy="548640"/>
          </a:xfrm>
          <a:prstGeom prst="rect">
            <a:avLst/>
          </a:prstGeom>
          <a:noFill/>
          <a:ln/>
        </p:spPr>
        <p:txBody>
          <a:bodyPr wrap="square" lIns="0" tIns="0" rIns="0" bIns="0" rtlCol="0" anchor="ctr"/>
          <a:lstStyle/>
          <a:p>
            <a:pPr indent="0" marL="0">
              <a:buNone/>
            </a:pPr>
            <a:r>
              <a:rPr lang="en-US" sz="1300" b="1" dirty="0">
                <a:solidFill>
                  <a:srgbClr val="0B3B37"/>
                </a:solidFill>
                <a:latin typeface="Calibri" pitchFamily="34" charset="0"/>
                <a:ea typeface="Calibri" pitchFamily="34" charset="-122"/>
                <a:cs typeface="Calibri" pitchFamily="34" charset="-120"/>
              </a:rPr>
              <a:t>Docs &amp; slides</a:t>
            </a:r>
            <a:endParaRPr lang="en-US" sz="1300" dirty="0"/>
          </a:p>
        </p:txBody>
      </p:sp>
      <p:sp>
        <p:nvSpPr>
          <p:cNvPr id="52" name="Text 49"/>
          <p:cNvSpPr txBox="1"/>
          <p:nvPr/>
        </p:nvSpPr>
        <p:spPr>
          <a:xfrm>
            <a:off x="9793986" y="5532120"/>
            <a:ext cx="1794205" cy="2743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Wk 11-12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Design overview: four viewpoints, five diagrams</a:t>
            </a:r>
            <a:endParaRPr lang="en-US" sz="3400" dirty="0"/>
          </a:p>
        </p:txBody>
      </p:sp>
      <p:sp>
        <p:nvSpPr>
          <p:cNvPr id="7" name="Shape 4"/>
          <p:cNvSpPr/>
          <p:nvPr/>
        </p:nvSpPr>
        <p:spPr>
          <a:xfrm>
            <a:off x="548640" y="1691640"/>
            <a:ext cx="6309360" cy="914400"/>
          </a:xfrm>
          <a:prstGeom prst="roundRect">
            <a:avLst>
              <a:gd name="adj" fmla="val 10000"/>
            </a:avLst>
          </a:prstGeom>
          <a:solidFill>
            <a:srgbClr val="E6F2EF"/>
          </a:solidFill>
          <a:ln w="12700">
            <a:solidFill>
              <a:srgbClr val="E6F2EF"/>
            </a:solidFill>
            <a:prstDash val="solid"/>
          </a:ln>
        </p:spPr>
      </p:sp>
      <p:sp>
        <p:nvSpPr>
          <p:cNvPr id="8" name="Text 5"/>
          <p:cNvSpPr txBox="1"/>
          <p:nvPr/>
        </p:nvSpPr>
        <p:spPr>
          <a:xfrm>
            <a:off x="777240" y="1691640"/>
            <a:ext cx="1737360" cy="914400"/>
          </a:xfrm>
          <a:prstGeom prst="rect">
            <a:avLst/>
          </a:prstGeom>
          <a:noFill/>
          <a:ln/>
        </p:spPr>
        <p:txBody>
          <a:bodyPr wrap="square" lIns="0" tIns="0" rIns="0" bIns="0" rtlCol="0" anchor="ctr"/>
          <a:lstStyle/>
          <a:p>
            <a:pPr indent="0" marL="0">
              <a:buNone/>
            </a:pPr>
            <a:r>
              <a:rPr lang="en-US" sz="1700" b="1" dirty="0">
                <a:solidFill>
                  <a:srgbClr val="0B3B37"/>
                </a:solidFill>
                <a:latin typeface="Calibri" pitchFamily="34" charset="0"/>
                <a:ea typeface="Calibri" pitchFamily="34" charset="-122"/>
                <a:cs typeface="Calibri" pitchFamily="34" charset="-120"/>
              </a:rPr>
              <a:t>Functional</a:t>
            </a:r>
            <a:endParaRPr lang="en-US" sz="1700" dirty="0"/>
          </a:p>
        </p:txBody>
      </p:sp>
      <p:sp>
        <p:nvSpPr>
          <p:cNvPr id="9" name="Text 6"/>
          <p:cNvSpPr txBox="1"/>
          <p:nvPr/>
        </p:nvSpPr>
        <p:spPr>
          <a:xfrm>
            <a:off x="2514600" y="1691640"/>
            <a:ext cx="246888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Who uses it, for what?</a:t>
            </a:r>
            <a:endParaRPr lang="en-US" sz="1400" dirty="0"/>
          </a:p>
        </p:txBody>
      </p:sp>
      <p:sp>
        <p:nvSpPr>
          <p:cNvPr id="10" name="Text 7"/>
          <p:cNvSpPr txBox="1"/>
          <p:nvPr/>
        </p:nvSpPr>
        <p:spPr>
          <a:xfrm>
            <a:off x="4983480" y="1691640"/>
            <a:ext cx="1737360" cy="9144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Use Case</a:t>
            </a:r>
            <a:endParaRPr lang="en-US" sz="1500" dirty="0"/>
          </a:p>
        </p:txBody>
      </p:sp>
      <p:sp>
        <p:nvSpPr>
          <p:cNvPr id="11" name="Shape 8"/>
          <p:cNvSpPr/>
          <p:nvPr/>
        </p:nvSpPr>
        <p:spPr>
          <a:xfrm>
            <a:off x="548640" y="2770632"/>
            <a:ext cx="6309360" cy="914400"/>
          </a:xfrm>
          <a:prstGeom prst="roundRect">
            <a:avLst>
              <a:gd name="adj" fmla="val 10000"/>
            </a:avLst>
          </a:prstGeom>
          <a:solidFill>
            <a:srgbClr val="E6F2EF"/>
          </a:solidFill>
          <a:ln w="12700">
            <a:solidFill>
              <a:srgbClr val="E6F2EF"/>
            </a:solidFill>
            <a:prstDash val="solid"/>
          </a:ln>
        </p:spPr>
      </p:sp>
      <p:sp>
        <p:nvSpPr>
          <p:cNvPr id="12" name="Text 9"/>
          <p:cNvSpPr txBox="1"/>
          <p:nvPr/>
        </p:nvSpPr>
        <p:spPr>
          <a:xfrm>
            <a:off x="777240" y="2770632"/>
            <a:ext cx="1737360" cy="914400"/>
          </a:xfrm>
          <a:prstGeom prst="rect">
            <a:avLst/>
          </a:prstGeom>
          <a:noFill/>
          <a:ln/>
        </p:spPr>
        <p:txBody>
          <a:bodyPr wrap="square" lIns="0" tIns="0" rIns="0" bIns="0" rtlCol="0" anchor="ctr"/>
          <a:lstStyle/>
          <a:p>
            <a:pPr indent="0" marL="0">
              <a:buNone/>
            </a:pPr>
            <a:r>
              <a:rPr lang="en-US" sz="1700" b="1" dirty="0">
                <a:solidFill>
                  <a:srgbClr val="0B3B37"/>
                </a:solidFill>
                <a:latin typeface="Calibri" pitchFamily="34" charset="0"/>
                <a:ea typeface="Calibri" pitchFamily="34" charset="-122"/>
                <a:cs typeface="Calibri" pitchFamily="34" charset="-120"/>
              </a:rPr>
              <a:t>Structural</a:t>
            </a:r>
            <a:endParaRPr lang="en-US" sz="1700" dirty="0"/>
          </a:p>
        </p:txBody>
      </p:sp>
      <p:sp>
        <p:nvSpPr>
          <p:cNvPr id="13" name="Text 10"/>
          <p:cNvSpPr txBox="1"/>
          <p:nvPr/>
        </p:nvSpPr>
        <p:spPr>
          <a:xfrm>
            <a:off x="2514600" y="2770632"/>
            <a:ext cx="246888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What data, how related?</a:t>
            </a:r>
            <a:endParaRPr lang="en-US" sz="1400" dirty="0"/>
          </a:p>
        </p:txBody>
      </p:sp>
      <p:sp>
        <p:nvSpPr>
          <p:cNvPr id="14" name="Text 11"/>
          <p:cNvSpPr txBox="1"/>
          <p:nvPr/>
        </p:nvSpPr>
        <p:spPr>
          <a:xfrm>
            <a:off x="4983480" y="2770632"/>
            <a:ext cx="1737360" cy="9144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Class</a:t>
            </a:r>
            <a:endParaRPr lang="en-US" sz="1500" dirty="0"/>
          </a:p>
        </p:txBody>
      </p:sp>
      <p:sp>
        <p:nvSpPr>
          <p:cNvPr id="15" name="Shape 12"/>
          <p:cNvSpPr/>
          <p:nvPr/>
        </p:nvSpPr>
        <p:spPr>
          <a:xfrm>
            <a:off x="548640" y="3849624"/>
            <a:ext cx="6309360" cy="914400"/>
          </a:xfrm>
          <a:prstGeom prst="roundRect">
            <a:avLst>
              <a:gd name="adj" fmla="val 10000"/>
            </a:avLst>
          </a:prstGeom>
          <a:solidFill>
            <a:srgbClr val="E6F2EF"/>
          </a:solidFill>
          <a:ln w="12700">
            <a:solidFill>
              <a:srgbClr val="E6F2EF"/>
            </a:solidFill>
            <a:prstDash val="solid"/>
          </a:ln>
        </p:spPr>
      </p:sp>
      <p:sp>
        <p:nvSpPr>
          <p:cNvPr id="16" name="Text 13"/>
          <p:cNvSpPr txBox="1"/>
          <p:nvPr/>
        </p:nvSpPr>
        <p:spPr>
          <a:xfrm>
            <a:off x="777240" y="3849624"/>
            <a:ext cx="1737360" cy="914400"/>
          </a:xfrm>
          <a:prstGeom prst="rect">
            <a:avLst/>
          </a:prstGeom>
          <a:noFill/>
          <a:ln/>
        </p:spPr>
        <p:txBody>
          <a:bodyPr wrap="square" lIns="0" tIns="0" rIns="0" bIns="0" rtlCol="0" anchor="ctr"/>
          <a:lstStyle/>
          <a:p>
            <a:pPr indent="0" marL="0">
              <a:buNone/>
            </a:pPr>
            <a:r>
              <a:rPr lang="en-US" sz="1700" b="1" dirty="0">
                <a:solidFill>
                  <a:srgbClr val="0B3B37"/>
                </a:solidFill>
                <a:latin typeface="Calibri" pitchFamily="34" charset="0"/>
                <a:ea typeface="Calibri" pitchFamily="34" charset="-122"/>
                <a:cs typeface="Calibri" pitchFamily="34" charset="-120"/>
              </a:rPr>
              <a:t>Behavioural</a:t>
            </a:r>
            <a:endParaRPr lang="en-US" sz="1700" dirty="0"/>
          </a:p>
        </p:txBody>
      </p:sp>
      <p:sp>
        <p:nvSpPr>
          <p:cNvPr id="17" name="Text 14"/>
          <p:cNvSpPr txBox="1"/>
          <p:nvPr/>
        </p:nvSpPr>
        <p:spPr>
          <a:xfrm>
            <a:off x="2514600" y="3849624"/>
            <a:ext cx="246888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How do parts interact, step by step?</a:t>
            </a:r>
            <a:endParaRPr lang="en-US" sz="1400" dirty="0"/>
          </a:p>
        </p:txBody>
      </p:sp>
      <p:sp>
        <p:nvSpPr>
          <p:cNvPr id="18" name="Text 15"/>
          <p:cNvSpPr txBox="1"/>
          <p:nvPr/>
        </p:nvSpPr>
        <p:spPr>
          <a:xfrm>
            <a:off x="4983480" y="3849624"/>
            <a:ext cx="1737360" cy="9144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Sequence + Activity</a:t>
            </a:r>
            <a:endParaRPr lang="en-US" sz="1500" dirty="0"/>
          </a:p>
        </p:txBody>
      </p:sp>
      <p:sp>
        <p:nvSpPr>
          <p:cNvPr id="19" name="Shape 16"/>
          <p:cNvSpPr/>
          <p:nvPr/>
        </p:nvSpPr>
        <p:spPr>
          <a:xfrm>
            <a:off x="548640" y="4928616"/>
            <a:ext cx="6309360" cy="914400"/>
          </a:xfrm>
          <a:prstGeom prst="roundRect">
            <a:avLst>
              <a:gd name="adj" fmla="val 10000"/>
            </a:avLst>
          </a:prstGeom>
          <a:solidFill>
            <a:srgbClr val="E6F2EF"/>
          </a:solidFill>
          <a:ln w="12700">
            <a:solidFill>
              <a:srgbClr val="E6F2EF"/>
            </a:solidFill>
            <a:prstDash val="solid"/>
          </a:ln>
        </p:spPr>
      </p:sp>
      <p:sp>
        <p:nvSpPr>
          <p:cNvPr id="20" name="Text 17"/>
          <p:cNvSpPr txBox="1"/>
          <p:nvPr/>
        </p:nvSpPr>
        <p:spPr>
          <a:xfrm>
            <a:off x="777240" y="4928616"/>
            <a:ext cx="1737360" cy="914400"/>
          </a:xfrm>
          <a:prstGeom prst="rect">
            <a:avLst/>
          </a:prstGeom>
          <a:noFill/>
          <a:ln/>
        </p:spPr>
        <p:txBody>
          <a:bodyPr wrap="square" lIns="0" tIns="0" rIns="0" bIns="0" rtlCol="0" anchor="ctr"/>
          <a:lstStyle/>
          <a:p>
            <a:pPr indent="0" marL="0">
              <a:buNone/>
            </a:pPr>
            <a:r>
              <a:rPr lang="en-US" sz="1700" b="1" dirty="0">
                <a:solidFill>
                  <a:srgbClr val="0B3B37"/>
                </a:solidFill>
                <a:latin typeface="Calibri" pitchFamily="34" charset="0"/>
                <a:ea typeface="Calibri" pitchFamily="34" charset="-122"/>
                <a:cs typeface="Calibri" pitchFamily="34" charset="-120"/>
              </a:rPr>
              <a:t>Physical</a:t>
            </a:r>
            <a:endParaRPr lang="en-US" sz="1700" dirty="0"/>
          </a:p>
        </p:txBody>
      </p:sp>
      <p:sp>
        <p:nvSpPr>
          <p:cNvPr id="21" name="Text 18"/>
          <p:cNvSpPr txBox="1"/>
          <p:nvPr/>
        </p:nvSpPr>
        <p:spPr>
          <a:xfrm>
            <a:off x="2514600" y="4928616"/>
            <a:ext cx="246888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Where does each part run?</a:t>
            </a:r>
            <a:endParaRPr lang="en-US" sz="1400" dirty="0"/>
          </a:p>
        </p:txBody>
      </p:sp>
      <p:sp>
        <p:nvSpPr>
          <p:cNvPr id="22" name="Text 19"/>
          <p:cNvSpPr txBox="1"/>
          <p:nvPr/>
        </p:nvSpPr>
        <p:spPr>
          <a:xfrm>
            <a:off x="4983480" y="4928616"/>
            <a:ext cx="1737360" cy="9144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Deployment</a:t>
            </a:r>
            <a:endParaRPr lang="en-US" sz="1500" dirty="0"/>
          </a:p>
        </p:txBody>
      </p:sp>
      <p:sp>
        <p:nvSpPr>
          <p:cNvPr id="23" name="Text 20"/>
          <p:cNvSpPr txBox="1"/>
          <p:nvPr/>
        </p:nvSpPr>
        <p:spPr>
          <a:xfrm>
            <a:off x="7315200" y="1691640"/>
            <a:ext cx="4297680" cy="36576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Three-tier architecture</a:t>
            </a:r>
            <a:endParaRPr lang="en-US" sz="1700" dirty="0"/>
          </a:p>
        </p:txBody>
      </p:sp>
      <p:sp>
        <p:nvSpPr>
          <p:cNvPr id="24" name="Shape 21"/>
          <p:cNvSpPr/>
          <p:nvPr/>
        </p:nvSpPr>
        <p:spPr>
          <a:xfrm>
            <a:off x="7315200" y="2194560"/>
            <a:ext cx="4325112" cy="960120"/>
          </a:xfrm>
          <a:prstGeom prst="roundRect">
            <a:avLst>
              <a:gd name="adj" fmla="val 9524"/>
            </a:avLst>
          </a:prstGeom>
          <a:solidFill>
            <a:srgbClr val="F59E0B"/>
          </a:solidFill>
          <a:ln w="12700">
            <a:solidFill>
              <a:srgbClr val="F59E0B"/>
            </a:solidFill>
            <a:prstDash val="solid"/>
          </a:ln>
        </p:spPr>
      </p:sp>
      <p:sp>
        <p:nvSpPr>
          <p:cNvPr id="25" name="Text 22"/>
          <p:cNvSpPr txBox="1"/>
          <p:nvPr/>
        </p:nvSpPr>
        <p:spPr>
          <a:xfrm>
            <a:off x="7543800" y="2304288"/>
            <a:ext cx="3931920" cy="36576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Presentation</a:t>
            </a:r>
            <a:endParaRPr lang="en-US" sz="1700" dirty="0"/>
          </a:p>
        </p:txBody>
      </p:sp>
      <p:sp>
        <p:nvSpPr>
          <p:cNvPr id="26" name="Text 23"/>
          <p:cNvSpPr txBox="1"/>
          <p:nvPr/>
        </p:nvSpPr>
        <p:spPr>
          <a:xfrm>
            <a:off x="7543800" y="2670048"/>
            <a:ext cx="3931920" cy="365760"/>
          </a:xfrm>
          <a:prstGeom prst="rect">
            <a:avLst/>
          </a:prstGeom>
          <a:noFill/>
          <a:ln/>
        </p:spPr>
        <p:txBody>
          <a:bodyPr wrap="square" lIns="0" tIns="0" rIns="0" bIns="0" rtlCol="0" anchor="t"/>
          <a:lstStyle/>
          <a:p>
            <a:pPr indent="0" marL="0">
              <a:buNone/>
            </a:pPr>
            <a:r>
              <a:rPr lang="en-US" sz="1400" dirty="0">
                <a:solidFill>
                  <a:srgbClr val="0B3B37"/>
                </a:solidFill>
                <a:latin typeface="Calibri" pitchFamily="34" charset="0"/>
                <a:ea typeface="Calibri" pitchFamily="34" charset="-122"/>
                <a:cs typeface="Calibri" pitchFamily="34" charset="-120"/>
              </a:rPr>
              <a:t>React SPA (Vite)</a:t>
            </a:r>
            <a:endParaRPr lang="en-US" sz="1400" dirty="0"/>
          </a:p>
        </p:txBody>
      </p:sp>
      <p:sp>
        <p:nvSpPr>
          <p:cNvPr id="27" name="Text 24"/>
          <p:cNvSpPr txBox="1"/>
          <p:nvPr/>
        </p:nvSpPr>
        <p:spPr>
          <a:xfrm>
            <a:off x="7315200" y="3172968"/>
            <a:ext cx="4325112" cy="274320"/>
          </a:xfrm>
          <a:prstGeom prst="rect">
            <a:avLst/>
          </a:prstGeom>
          <a:noFill/>
          <a:ln/>
        </p:spPr>
        <p:txBody>
          <a:bodyPr wrap="square" lIns="0" tIns="0" rIns="0" bIns="0" rtlCol="0" anchor="t"/>
          <a:lstStyle/>
          <a:p>
            <a:pPr algn="ctr" indent="0" marL="0">
              <a:buNone/>
            </a:pPr>
            <a:r>
              <a:rPr lang="en-US" sz="1100" dirty="0">
                <a:solidFill>
                  <a:srgbClr val="4B5563"/>
                </a:solidFill>
                <a:latin typeface="Calibri" pitchFamily="34" charset="0"/>
                <a:ea typeface="Calibri" pitchFamily="34" charset="-122"/>
                <a:cs typeface="Calibri" pitchFamily="34" charset="-120"/>
              </a:rPr>
              <a:t>HTTP / JSON</a:t>
            </a:r>
            <a:endParaRPr lang="en-US" sz="1100" dirty="0"/>
          </a:p>
        </p:txBody>
      </p:sp>
      <p:sp>
        <p:nvSpPr>
          <p:cNvPr id="28" name="Shape 25"/>
          <p:cNvSpPr/>
          <p:nvPr/>
        </p:nvSpPr>
        <p:spPr>
          <a:xfrm>
            <a:off x="7315200" y="3474720"/>
            <a:ext cx="4325112" cy="960120"/>
          </a:xfrm>
          <a:prstGeom prst="roundRect">
            <a:avLst>
              <a:gd name="adj" fmla="val 9524"/>
            </a:avLst>
          </a:prstGeom>
          <a:solidFill>
            <a:srgbClr val="0F766E"/>
          </a:solidFill>
          <a:ln w="12700">
            <a:solidFill>
              <a:srgbClr val="0F766E"/>
            </a:solidFill>
            <a:prstDash val="solid"/>
          </a:ln>
        </p:spPr>
      </p:sp>
      <p:sp>
        <p:nvSpPr>
          <p:cNvPr id="29" name="Text 26"/>
          <p:cNvSpPr txBox="1"/>
          <p:nvPr/>
        </p:nvSpPr>
        <p:spPr>
          <a:xfrm>
            <a:off x="7543800" y="3584448"/>
            <a:ext cx="39319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Application</a:t>
            </a:r>
            <a:endParaRPr lang="en-US" sz="1700" dirty="0"/>
          </a:p>
        </p:txBody>
      </p:sp>
      <p:sp>
        <p:nvSpPr>
          <p:cNvPr id="30" name="Text 27"/>
          <p:cNvSpPr txBox="1"/>
          <p:nvPr/>
        </p:nvSpPr>
        <p:spPr>
          <a:xfrm>
            <a:off x="7543800" y="3950208"/>
            <a:ext cx="39319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Express REST API + middleware</a:t>
            </a:r>
            <a:endParaRPr lang="en-US" sz="1400" dirty="0"/>
          </a:p>
        </p:txBody>
      </p:sp>
      <p:sp>
        <p:nvSpPr>
          <p:cNvPr id="31" name="Text 28"/>
          <p:cNvSpPr txBox="1"/>
          <p:nvPr/>
        </p:nvSpPr>
        <p:spPr>
          <a:xfrm>
            <a:off x="7315200" y="4453128"/>
            <a:ext cx="4325112" cy="274320"/>
          </a:xfrm>
          <a:prstGeom prst="rect">
            <a:avLst/>
          </a:prstGeom>
          <a:noFill/>
          <a:ln/>
        </p:spPr>
        <p:txBody>
          <a:bodyPr wrap="square" lIns="0" tIns="0" rIns="0" bIns="0" rtlCol="0" anchor="t"/>
          <a:lstStyle/>
          <a:p>
            <a:pPr algn="ctr" indent="0" marL="0">
              <a:buNone/>
            </a:pPr>
            <a:r>
              <a:rPr lang="en-US" sz="1100" dirty="0">
                <a:solidFill>
                  <a:srgbClr val="4B5563"/>
                </a:solidFill>
                <a:latin typeface="Calibri" pitchFamily="34" charset="0"/>
                <a:ea typeface="Calibri" pitchFamily="34" charset="-122"/>
                <a:cs typeface="Calibri" pitchFamily="34" charset="-120"/>
              </a:rPr>
              <a:t>HTTP / JSON</a:t>
            </a:r>
            <a:endParaRPr lang="en-US" sz="1100" dirty="0"/>
          </a:p>
        </p:txBody>
      </p:sp>
      <p:sp>
        <p:nvSpPr>
          <p:cNvPr id="32" name="Shape 29"/>
          <p:cNvSpPr/>
          <p:nvPr/>
        </p:nvSpPr>
        <p:spPr>
          <a:xfrm>
            <a:off x="7315200" y="4754880"/>
            <a:ext cx="4325112" cy="960120"/>
          </a:xfrm>
          <a:prstGeom prst="roundRect">
            <a:avLst>
              <a:gd name="adj" fmla="val 9524"/>
            </a:avLst>
          </a:prstGeom>
          <a:solidFill>
            <a:srgbClr val="0B3B37"/>
          </a:solidFill>
          <a:ln w="12700">
            <a:solidFill>
              <a:srgbClr val="0B3B37"/>
            </a:solidFill>
            <a:prstDash val="solid"/>
          </a:ln>
        </p:spPr>
      </p:sp>
      <p:sp>
        <p:nvSpPr>
          <p:cNvPr id="33" name="Text 30"/>
          <p:cNvSpPr txBox="1"/>
          <p:nvPr/>
        </p:nvSpPr>
        <p:spPr>
          <a:xfrm>
            <a:off x="7543800" y="4864608"/>
            <a:ext cx="39319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Data</a:t>
            </a:r>
            <a:endParaRPr lang="en-US" sz="1700" dirty="0"/>
          </a:p>
        </p:txBody>
      </p:sp>
      <p:sp>
        <p:nvSpPr>
          <p:cNvPr id="34" name="Text 31"/>
          <p:cNvSpPr txBox="1"/>
          <p:nvPr/>
        </p:nvSpPr>
        <p:spPr>
          <a:xfrm>
            <a:off x="7543800" y="5230368"/>
            <a:ext cx="39319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MongoDB + uploads folder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Use case diagram</a:t>
            </a:r>
            <a:endParaRPr lang="en-US" sz="3400" dirty="0"/>
          </a:p>
        </p:txBody>
      </p:sp>
      <p:sp>
        <p:nvSpPr>
          <p:cNvPr id="7" name="Shape 4"/>
          <p:cNvSpPr/>
          <p:nvPr/>
        </p:nvSpPr>
        <p:spPr>
          <a:xfrm>
            <a:off x="548640" y="1545336"/>
            <a:ext cx="5882225" cy="5001768"/>
          </a:xfrm>
          <a:prstGeom prst="rect">
            <a:avLst/>
          </a:prstGeom>
          <a:solidFill>
            <a:srgbClr val="FFFFFF"/>
          </a:solidFill>
          <a:ln w="12700">
            <a:solidFill>
              <a:srgbClr val="D1D5DB"/>
            </a:solidFill>
            <a:prstDash val="solid"/>
          </a:ln>
        </p:spPr>
      </p:sp>
      <p:pic>
        <p:nvPicPr>
          <p:cNvPr id="8" name="Image 0" descr="Use Case Diagram">    </p:cNvPr>
          <p:cNvPicPr>
            <a:picLocks noChangeAspect="1"/>
          </p:cNvPicPr>
          <p:nvPr/>
        </p:nvPicPr>
        <p:blipFill>
          <a:blip r:embed="rId1"/>
          <a:stretch>
            <a:fillRect/>
          </a:stretch>
        </p:blipFill>
        <p:spPr>
          <a:xfrm>
            <a:off x="603504" y="1600200"/>
            <a:ext cx="5772497" cy="4892040"/>
          </a:xfrm>
          <a:prstGeom prst="rect">
            <a:avLst/>
          </a:prstGeom>
        </p:spPr>
      </p:pic>
      <p:sp>
        <p:nvSpPr>
          <p:cNvPr id="9" name="Shape 5"/>
          <p:cNvSpPr/>
          <p:nvPr/>
        </p:nvSpPr>
        <p:spPr>
          <a:xfrm>
            <a:off x="6787481" y="1545336"/>
            <a:ext cx="4855574" cy="5001768"/>
          </a:xfrm>
          <a:prstGeom prst="roundRect">
            <a:avLst>
              <a:gd name="adj" fmla="val 1883"/>
            </a:avLst>
          </a:prstGeom>
          <a:solidFill>
            <a:srgbClr val="E6F2EF"/>
          </a:solidFill>
          <a:ln w="12700">
            <a:solidFill>
              <a:srgbClr val="E6F2EF"/>
            </a:solidFill>
            <a:prstDash val="solid"/>
          </a:ln>
        </p:spPr>
      </p:sp>
      <p:sp>
        <p:nvSpPr>
          <p:cNvPr id="10" name="Text 6"/>
          <p:cNvSpPr txBox="1"/>
          <p:nvPr/>
        </p:nvSpPr>
        <p:spPr>
          <a:xfrm>
            <a:off x="7061801" y="1737360"/>
            <a:ext cx="4306934"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How to read it</a:t>
            </a:r>
            <a:endParaRPr lang="en-US" sz="1800" dirty="0"/>
          </a:p>
        </p:txBody>
      </p:sp>
      <p:sp>
        <p:nvSpPr>
          <p:cNvPr id="11" name="Text 7"/>
          <p:cNvSpPr txBox="1"/>
          <p:nvPr/>
        </p:nvSpPr>
        <p:spPr>
          <a:xfrm>
            <a:off x="7061801" y="2240280"/>
            <a:ext cx="4352654" cy="4160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Three actors: Visitor (not logged in), Student (logged in) and Admin. The hollow-triangle arrows are generalisation: a Student can do everything a Visitor can, and an Admin everything a Student can.</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Visitors can browse, search, view items, register and log in.</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Students can post items, send and track claim requests, manage their own posts and review requests on their posts.</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«extend» marks optional behaviour: uploading a photo extends posting; seeing the poster's contact extends viewing (only when logged in); approving / rejecting extends reviewing.</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«include» marks behaviour that always happens: approving a request always marks the item as returned.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Class diagram</a:t>
            </a:r>
            <a:endParaRPr lang="en-US" sz="3400" dirty="0"/>
          </a:p>
        </p:txBody>
      </p:sp>
      <p:sp>
        <p:nvSpPr>
          <p:cNvPr id="7" name="Shape 4"/>
          <p:cNvSpPr/>
          <p:nvPr/>
        </p:nvSpPr>
        <p:spPr>
          <a:xfrm>
            <a:off x="548640" y="1545336"/>
            <a:ext cx="5943834" cy="5001768"/>
          </a:xfrm>
          <a:prstGeom prst="rect">
            <a:avLst/>
          </a:prstGeom>
          <a:solidFill>
            <a:srgbClr val="FFFFFF"/>
          </a:solidFill>
          <a:ln w="12700">
            <a:solidFill>
              <a:srgbClr val="D1D5DB"/>
            </a:solidFill>
            <a:prstDash val="solid"/>
          </a:ln>
        </p:spPr>
      </p:sp>
      <p:pic>
        <p:nvPicPr>
          <p:cNvPr id="8" name="Image 0" descr="Class Diagram">    </p:cNvPr>
          <p:cNvPicPr>
            <a:picLocks noChangeAspect="1"/>
          </p:cNvPicPr>
          <p:nvPr/>
        </p:nvPicPr>
        <p:blipFill>
          <a:blip r:embed="rId1"/>
          <a:stretch>
            <a:fillRect/>
          </a:stretch>
        </p:blipFill>
        <p:spPr>
          <a:xfrm>
            <a:off x="603504" y="1600200"/>
            <a:ext cx="5834106" cy="4892040"/>
          </a:xfrm>
          <a:prstGeom prst="rect">
            <a:avLst/>
          </a:prstGeom>
        </p:spPr>
      </p:pic>
      <p:sp>
        <p:nvSpPr>
          <p:cNvPr id="9" name="Shape 5"/>
          <p:cNvSpPr/>
          <p:nvPr/>
        </p:nvSpPr>
        <p:spPr>
          <a:xfrm>
            <a:off x="6849090" y="1545336"/>
            <a:ext cx="4793965" cy="5001768"/>
          </a:xfrm>
          <a:prstGeom prst="roundRect">
            <a:avLst>
              <a:gd name="adj" fmla="val 1907"/>
            </a:avLst>
          </a:prstGeom>
          <a:solidFill>
            <a:srgbClr val="E6F2EF"/>
          </a:solidFill>
          <a:ln w="12700">
            <a:solidFill>
              <a:srgbClr val="E6F2EF"/>
            </a:solidFill>
            <a:prstDash val="solid"/>
          </a:ln>
        </p:spPr>
      </p:sp>
      <p:sp>
        <p:nvSpPr>
          <p:cNvPr id="10" name="Text 6"/>
          <p:cNvSpPr txBox="1"/>
          <p:nvPr/>
        </p:nvSpPr>
        <p:spPr>
          <a:xfrm>
            <a:off x="7123410" y="1737360"/>
            <a:ext cx="4245325"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How to read it</a:t>
            </a:r>
            <a:endParaRPr lang="en-US" sz="1800" dirty="0"/>
          </a:p>
        </p:txBody>
      </p:sp>
      <p:sp>
        <p:nvSpPr>
          <p:cNvPr id="11" name="Text 7"/>
          <p:cNvSpPr txBox="1"/>
          <p:nvPr/>
        </p:nvSpPr>
        <p:spPr>
          <a:xfrm>
            <a:off x="7123410" y="2240280"/>
            <a:ext cx="4291045" cy="4160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User posts 0..* Items; an Item may be returned to 0..1 User (resolvedWith).</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A User makes 0..* Claims; each Claim belongs to exactly one Item and one claimant.</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The filled diamond between Item and Claim is composition: deleting an Item deletes all its Claims.</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Enumerations restrict values: ItemType (found/lost), ItemStatus (open/resolved), ClaimStatus (pending/approved/rejected), Role and the 10 Categories.</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The note records a business rule enforced by a unique database index: one claim per student per item.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Sequence diagram: claiming an item</a:t>
            </a:r>
            <a:endParaRPr lang="en-US" sz="3400" dirty="0"/>
          </a:p>
        </p:txBody>
      </p:sp>
      <p:sp>
        <p:nvSpPr>
          <p:cNvPr id="7" name="Shape 4"/>
          <p:cNvSpPr/>
          <p:nvPr/>
        </p:nvSpPr>
        <p:spPr>
          <a:xfrm>
            <a:off x="548640" y="1545336"/>
            <a:ext cx="4752680" cy="5001768"/>
          </a:xfrm>
          <a:prstGeom prst="rect">
            <a:avLst/>
          </a:prstGeom>
          <a:solidFill>
            <a:srgbClr val="FFFFFF"/>
          </a:solidFill>
          <a:ln w="12700">
            <a:solidFill>
              <a:srgbClr val="D1D5DB"/>
            </a:solidFill>
            <a:prstDash val="solid"/>
          </a:ln>
        </p:spPr>
      </p:sp>
      <p:pic>
        <p:nvPicPr>
          <p:cNvPr id="8" name="Image 0" descr="Sequence Diagram">    </p:cNvPr>
          <p:cNvPicPr>
            <a:picLocks noChangeAspect="1"/>
          </p:cNvPicPr>
          <p:nvPr/>
        </p:nvPicPr>
        <p:blipFill>
          <a:blip r:embed="rId1"/>
          <a:stretch>
            <a:fillRect/>
          </a:stretch>
        </p:blipFill>
        <p:spPr>
          <a:xfrm>
            <a:off x="603504" y="1600200"/>
            <a:ext cx="4642952" cy="4892040"/>
          </a:xfrm>
          <a:prstGeom prst="rect">
            <a:avLst/>
          </a:prstGeom>
        </p:spPr>
      </p:pic>
      <p:sp>
        <p:nvSpPr>
          <p:cNvPr id="9" name="Shape 5"/>
          <p:cNvSpPr/>
          <p:nvPr/>
        </p:nvSpPr>
        <p:spPr>
          <a:xfrm>
            <a:off x="5657936" y="1545336"/>
            <a:ext cx="5985119" cy="5001768"/>
          </a:xfrm>
          <a:prstGeom prst="roundRect">
            <a:avLst>
              <a:gd name="adj" fmla="val 1828"/>
            </a:avLst>
          </a:prstGeom>
          <a:solidFill>
            <a:srgbClr val="E6F2EF"/>
          </a:solidFill>
          <a:ln w="12700">
            <a:solidFill>
              <a:srgbClr val="E6F2EF"/>
            </a:solidFill>
            <a:prstDash val="solid"/>
          </a:ln>
        </p:spPr>
      </p:sp>
      <p:sp>
        <p:nvSpPr>
          <p:cNvPr id="10" name="Text 6"/>
          <p:cNvSpPr txBox="1"/>
          <p:nvPr/>
        </p:nvSpPr>
        <p:spPr>
          <a:xfrm>
            <a:off x="5932256" y="1737360"/>
            <a:ext cx="5436479"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How to read it</a:t>
            </a:r>
            <a:endParaRPr lang="en-US" sz="1800" dirty="0"/>
          </a:p>
        </p:txBody>
      </p:sp>
      <p:sp>
        <p:nvSpPr>
          <p:cNvPr id="11" name="Text 7"/>
          <p:cNvSpPr txBox="1"/>
          <p:nvPr/>
        </p:nvSpPr>
        <p:spPr>
          <a:xfrm>
            <a:off x="5932256" y="2240280"/>
            <a:ext cx="5482199" cy="416052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F2937"/>
                </a:solidFill>
                <a:latin typeface="Calibri" pitchFamily="34" charset="0"/>
                <a:ea typeface="Calibri" pitchFamily="34" charset="-122"/>
                <a:cs typeface="Calibri" pitchFamily="34" charset="-120"/>
              </a:rPr>
              <a:t>Part A:</a:t>
            </a:r>
            <a:pPr indent="0" marL="0">
              <a:spcAft>
                <a:spcPts val="900"/>
              </a:spcAft>
              <a:buNone/>
            </a:pPr>
            <a:r>
              <a:rPr lang="en-US" sz="1500" dirty="0">
                <a:solidFill>
                  <a:srgbClr val="1F2937"/>
                </a:solidFill>
                <a:latin typeface="Calibri" pitchFamily="34" charset="0"/>
                <a:ea typeface="Calibri" pitchFamily="34" charset="-122"/>
                <a:cs typeface="Calibri" pitchFamily="34" charset="-120"/>
              </a:rPr>
              <a:t> the claimant's browser sends POST /api/claims with the login token; the API verifies the token, loads the item and runs the business checks.</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The alt fragment shows the alternatives: own post or returned item gives 400, an earlier request gives 409, otherwise the claim is saved as pending.</a:t>
            </a:r>
            <a:endParaRPr lang="en-US" sz="1500" dirty="0"/>
          </a:p>
          <a:p>
            <a:pPr marL="203200" indent="-203200">
              <a:spcAft>
                <a:spcPts val="900"/>
              </a:spcAft>
              <a:buSzPct val="100000"/>
              <a:buChar char="•"/>
            </a:pPr>
            <a:r>
              <a:rPr lang="en-US" sz="1500" b="1" dirty="0">
                <a:solidFill>
                  <a:srgbClr val="1F2937"/>
                </a:solidFill>
                <a:latin typeface="Calibri" pitchFamily="34" charset="0"/>
                <a:ea typeface="Calibri" pitchFamily="34" charset="-122"/>
                <a:cs typeface="Calibri" pitchFamily="34" charset="-120"/>
              </a:rPr>
              <a:t>Part B:</a:t>
            </a:r>
            <a:pPr indent="0" marL="0">
              <a:spcAft>
                <a:spcPts val="900"/>
              </a:spcAft>
              <a:buNone/>
            </a:pPr>
            <a:r>
              <a:rPr lang="en-US" sz="1500" dirty="0">
                <a:solidFill>
                  <a:srgbClr val="1F2937"/>
                </a:solidFill>
                <a:latin typeface="Calibri" pitchFamily="34" charset="0"/>
                <a:ea typeface="Calibri" pitchFamily="34" charset="-122"/>
                <a:cs typeface="Calibri" pitchFamily="34" charset="-120"/>
              </a:rPr>
              <a:t> the poster loads received requests, then approves one with PATCH /api/claims/:id.</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On approval the API performs three database updates: claim approved, item resolved, other pending claims rejected.</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Solid arrows are requests; dashed arrows are replies. Tall rectangles show when each object is active.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Activity diagram: post to return</a:t>
            </a:r>
            <a:endParaRPr lang="en-US" sz="3400" dirty="0"/>
          </a:p>
        </p:txBody>
      </p:sp>
      <p:sp>
        <p:nvSpPr>
          <p:cNvPr id="7" name="Shape 4"/>
          <p:cNvSpPr/>
          <p:nvPr/>
        </p:nvSpPr>
        <p:spPr>
          <a:xfrm>
            <a:off x="548640" y="1545336"/>
            <a:ext cx="4154222" cy="5001768"/>
          </a:xfrm>
          <a:prstGeom prst="rect">
            <a:avLst/>
          </a:prstGeom>
          <a:solidFill>
            <a:srgbClr val="FFFFFF"/>
          </a:solidFill>
          <a:ln w="12700">
            <a:solidFill>
              <a:srgbClr val="D1D5DB"/>
            </a:solidFill>
            <a:prstDash val="solid"/>
          </a:ln>
        </p:spPr>
      </p:sp>
      <p:pic>
        <p:nvPicPr>
          <p:cNvPr id="8" name="Image 0" descr="Activity Diagram">    </p:cNvPr>
          <p:cNvPicPr>
            <a:picLocks noChangeAspect="1"/>
          </p:cNvPicPr>
          <p:nvPr/>
        </p:nvPicPr>
        <p:blipFill>
          <a:blip r:embed="rId1"/>
          <a:stretch>
            <a:fillRect/>
          </a:stretch>
        </p:blipFill>
        <p:spPr>
          <a:xfrm>
            <a:off x="603504" y="1600200"/>
            <a:ext cx="4044494" cy="4892040"/>
          </a:xfrm>
          <a:prstGeom prst="rect">
            <a:avLst/>
          </a:prstGeom>
        </p:spPr>
      </p:pic>
      <p:sp>
        <p:nvSpPr>
          <p:cNvPr id="9" name="Shape 5"/>
          <p:cNvSpPr/>
          <p:nvPr/>
        </p:nvSpPr>
        <p:spPr>
          <a:xfrm>
            <a:off x="5059478" y="1545336"/>
            <a:ext cx="6583577" cy="5001768"/>
          </a:xfrm>
          <a:prstGeom prst="roundRect">
            <a:avLst>
              <a:gd name="adj" fmla="val 1828"/>
            </a:avLst>
          </a:prstGeom>
          <a:solidFill>
            <a:srgbClr val="E6F2EF"/>
          </a:solidFill>
          <a:ln w="12700">
            <a:solidFill>
              <a:srgbClr val="E6F2EF"/>
            </a:solidFill>
            <a:prstDash val="solid"/>
          </a:ln>
        </p:spPr>
      </p:sp>
      <p:sp>
        <p:nvSpPr>
          <p:cNvPr id="10" name="Text 6"/>
          <p:cNvSpPr txBox="1"/>
          <p:nvPr/>
        </p:nvSpPr>
        <p:spPr>
          <a:xfrm>
            <a:off x="5333798" y="1737360"/>
            <a:ext cx="6034937"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How to read it</a:t>
            </a:r>
            <a:endParaRPr lang="en-US" sz="1800" dirty="0"/>
          </a:p>
        </p:txBody>
      </p:sp>
      <p:sp>
        <p:nvSpPr>
          <p:cNvPr id="11" name="Text 7"/>
          <p:cNvSpPr txBox="1"/>
          <p:nvPr/>
        </p:nvSpPr>
        <p:spPr>
          <a:xfrm>
            <a:off x="5333798" y="2240280"/>
            <a:ext cx="6080657" cy="4160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Swimlanes: Finder (poster), System and Owner (claimant) - each action sits in the lane of whoever performs it.</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Diamonds are decisions with guard conditions in square brackets, e.g. [valid] / [invalid] form data.</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The Owner's flow joins the Finder's when they find the listing and send a claim with proof.</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The Finder's decision [proof matches] leads to approval and the item being returned; [does not match] leads to rejection.</a:t>
            </a:r>
            <a:endParaRPr lang="en-US" sz="1500" dirty="0"/>
          </a:p>
          <a:p>
            <a:pPr marL="203200" indent="-2032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Filled circle = start; ringed circle = end. There are three possible end states.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2  |  System Design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Deployment diagram</a:t>
            </a:r>
            <a:endParaRPr lang="en-US" sz="3400" dirty="0"/>
          </a:p>
        </p:txBody>
      </p:sp>
      <p:sp>
        <p:nvSpPr>
          <p:cNvPr id="7" name="Shape 4"/>
          <p:cNvSpPr/>
          <p:nvPr/>
        </p:nvSpPr>
        <p:spPr>
          <a:xfrm>
            <a:off x="493776" y="1540259"/>
            <a:ext cx="7790688" cy="4600442"/>
          </a:xfrm>
          <a:prstGeom prst="rect">
            <a:avLst/>
          </a:prstGeom>
          <a:solidFill>
            <a:srgbClr val="FFFFFF"/>
          </a:solidFill>
          <a:ln w="12700">
            <a:solidFill>
              <a:srgbClr val="D1D5DB"/>
            </a:solidFill>
            <a:prstDash val="solid"/>
          </a:ln>
        </p:spPr>
      </p:sp>
      <p:pic>
        <p:nvPicPr>
          <p:cNvPr id="8" name="Image 0" descr="Deployment Diagram">    </p:cNvPr>
          <p:cNvPicPr>
            <a:picLocks noChangeAspect="1"/>
          </p:cNvPicPr>
          <p:nvPr/>
        </p:nvPicPr>
        <p:blipFill>
          <a:blip r:embed="rId1"/>
          <a:stretch>
            <a:fillRect/>
          </a:stretch>
        </p:blipFill>
        <p:spPr>
          <a:xfrm>
            <a:off x="548640" y="1595123"/>
            <a:ext cx="7680960" cy="4490714"/>
          </a:xfrm>
          <a:prstGeom prst="rect">
            <a:avLst/>
          </a:prstGeom>
        </p:spPr>
      </p:pic>
      <p:sp>
        <p:nvSpPr>
          <p:cNvPr id="9" name="Shape 5"/>
          <p:cNvSpPr/>
          <p:nvPr/>
        </p:nvSpPr>
        <p:spPr>
          <a:xfrm>
            <a:off x="8503920" y="1554480"/>
            <a:ext cx="3136392" cy="4572000"/>
          </a:xfrm>
          <a:prstGeom prst="roundRect">
            <a:avLst>
              <a:gd name="adj" fmla="val 2915"/>
            </a:avLst>
          </a:prstGeom>
          <a:solidFill>
            <a:srgbClr val="E6F2EF"/>
          </a:solidFill>
          <a:ln w="12700">
            <a:solidFill>
              <a:srgbClr val="E6F2EF"/>
            </a:solidFill>
            <a:prstDash val="solid"/>
          </a:ln>
        </p:spPr>
      </p:sp>
      <p:sp>
        <p:nvSpPr>
          <p:cNvPr id="10" name="Text 6"/>
          <p:cNvSpPr txBox="1"/>
          <p:nvPr/>
        </p:nvSpPr>
        <p:spPr>
          <a:xfrm>
            <a:off x="8686800" y="1737360"/>
            <a:ext cx="2743200" cy="36576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How to read it</a:t>
            </a:r>
            <a:endParaRPr lang="en-US" sz="1700" dirty="0"/>
          </a:p>
        </p:txBody>
      </p:sp>
      <p:sp>
        <p:nvSpPr>
          <p:cNvPr id="11" name="Text 7"/>
          <p:cNvSpPr txBox="1"/>
          <p:nvPr/>
        </p:nvSpPr>
        <p:spPr>
          <a:xfrm>
            <a:off x="8686800" y="2194560"/>
            <a:ext cx="2788920" cy="384048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The student's browser runs the React single-page app.</a:t>
            </a:r>
            <a:endParaRPr lang="en-US" sz="1250" dirty="0"/>
          </a:p>
          <a:p>
            <a:pPr marL="203200" indent="-2032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The application server runs Node.js with two processes: the Vite dev server (port 5173) that serves the React bundle and proxies /api calls, and the Express REST API (port 5000).</a:t>
            </a:r>
            <a:endParaRPr lang="en-US" sz="1250" dirty="0"/>
          </a:p>
          <a:p>
            <a:pPr marL="203200" indent="-2032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Express stores photos in the uploads/ folder and talks to MongoDB (port 27017) through the Mongoose driver.</a:t>
            </a:r>
            <a:endParaRPr lang="en-US" sz="1250" dirty="0"/>
          </a:p>
          <a:p>
            <a:pPr marL="203200" indent="-2032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For the demonstration all three nodes are the same laptop; in production they could be separate servers.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49174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14426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3  |  Development</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Technology stack</a:t>
            </a:r>
            <a:endParaRPr lang="en-US" sz="3400" dirty="0"/>
          </a:p>
        </p:txBody>
      </p:sp>
      <p:sp>
        <p:nvSpPr>
          <p:cNvPr id="7" name="Shape 4"/>
          <p:cNvSpPr/>
          <p:nvPr/>
        </p:nvSpPr>
        <p:spPr>
          <a:xfrm>
            <a:off x="548640" y="1691640"/>
            <a:ext cx="2567864" cy="3108960"/>
          </a:xfrm>
          <a:prstGeom prst="roundRect">
            <a:avLst>
              <a:gd name="adj" fmla="val 3561"/>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822960" y="1920240"/>
            <a:ext cx="868680" cy="868680"/>
          </a:xfrm>
          <a:prstGeom prst="ellipse">
            <a:avLst/>
          </a:prstGeom>
          <a:solidFill>
            <a:srgbClr val="0F766E"/>
          </a:solidFill>
          <a:ln w="12700">
            <a:solidFill>
              <a:srgbClr val="0F766E"/>
            </a:solidFill>
            <a:prstDash val="solid"/>
          </a:ln>
        </p:spPr>
      </p:sp>
      <p:sp>
        <p:nvSpPr>
          <p:cNvPr id="9" name="Text 6"/>
          <p:cNvSpPr txBox="1"/>
          <p:nvPr/>
        </p:nvSpPr>
        <p:spPr>
          <a:xfrm>
            <a:off x="822960" y="192024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M</a:t>
            </a:r>
            <a:endParaRPr lang="en-US" sz="3200" dirty="0"/>
          </a:p>
        </p:txBody>
      </p:sp>
      <p:sp>
        <p:nvSpPr>
          <p:cNvPr id="10" name="Text 7"/>
          <p:cNvSpPr txBox="1"/>
          <p:nvPr/>
        </p:nvSpPr>
        <p:spPr>
          <a:xfrm>
            <a:off x="822960" y="2926080"/>
            <a:ext cx="2019224"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MongoDB</a:t>
            </a:r>
            <a:endParaRPr lang="en-US" sz="2000" dirty="0"/>
          </a:p>
        </p:txBody>
      </p:sp>
      <p:sp>
        <p:nvSpPr>
          <p:cNvPr id="11" name="Text 8"/>
          <p:cNvSpPr txBox="1"/>
          <p:nvPr/>
        </p:nvSpPr>
        <p:spPr>
          <a:xfrm>
            <a:off x="822960" y="3383280"/>
            <a:ext cx="2019224"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3 collections: users, items, claims. Mongoose schemas with validation and indexes.</a:t>
            </a:r>
            <a:endParaRPr lang="en-US" sz="1400" dirty="0"/>
          </a:p>
        </p:txBody>
      </p:sp>
      <p:sp>
        <p:nvSpPr>
          <p:cNvPr id="12" name="Shape 9"/>
          <p:cNvSpPr/>
          <p:nvPr/>
        </p:nvSpPr>
        <p:spPr>
          <a:xfrm>
            <a:off x="3390824" y="1691640"/>
            <a:ext cx="2567864" cy="3108960"/>
          </a:xfrm>
          <a:prstGeom prst="roundRect">
            <a:avLst>
              <a:gd name="adj" fmla="val 3561"/>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665144" y="1920240"/>
            <a:ext cx="868680" cy="868680"/>
          </a:xfrm>
          <a:prstGeom prst="ellipse">
            <a:avLst/>
          </a:prstGeom>
          <a:solidFill>
            <a:srgbClr val="0F766E"/>
          </a:solidFill>
          <a:ln w="12700">
            <a:solidFill>
              <a:srgbClr val="0F766E"/>
            </a:solidFill>
            <a:prstDash val="solid"/>
          </a:ln>
        </p:spPr>
      </p:sp>
      <p:sp>
        <p:nvSpPr>
          <p:cNvPr id="14" name="Text 11"/>
          <p:cNvSpPr txBox="1"/>
          <p:nvPr/>
        </p:nvSpPr>
        <p:spPr>
          <a:xfrm>
            <a:off x="3665144" y="192024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E</a:t>
            </a:r>
            <a:endParaRPr lang="en-US" sz="3200" dirty="0"/>
          </a:p>
        </p:txBody>
      </p:sp>
      <p:sp>
        <p:nvSpPr>
          <p:cNvPr id="15" name="Text 12"/>
          <p:cNvSpPr txBox="1"/>
          <p:nvPr/>
        </p:nvSpPr>
        <p:spPr>
          <a:xfrm>
            <a:off x="3665144" y="2926080"/>
            <a:ext cx="2019224"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Express 5</a:t>
            </a:r>
            <a:endParaRPr lang="en-US" sz="2000" dirty="0"/>
          </a:p>
        </p:txBody>
      </p:sp>
      <p:sp>
        <p:nvSpPr>
          <p:cNvPr id="16" name="Text 13"/>
          <p:cNvSpPr txBox="1"/>
          <p:nvPr/>
        </p:nvSpPr>
        <p:spPr>
          <a:xfrm>
            <a:off x="3665144" y="3383280"/>
            <a:ext cx="2019224"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REST API: 15 endpoints in 3 route files, plus auth, upload and error middleware.</a:t>
            </a:r>
            <a:endParaRPr lang="en-US" sz="1400" dirty="0"/>
          </a:p>
        </p:txBody>
      </p:sp>
      <p:sp>
        <p:nvSpPr>
          <p:cNvPr id="17" name="Shape 14"/>
          <p:cNvSpPr/>
          <p:nvPr/>
        </p:nvSpPr>
        <p:spPr>
          <a:xfrm>
            <a:off x="6233008" y="1691640"/>
            <a:ext cx="2567864" cy="3108960"/>
          </a:xfrm>
          <a:prstGeom prst="roundRect">
            <a:avLst>
              <a:gd name="adj" fmla="val 3561"/>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6507328" y="1920240"/>
            <a:ext cx="868680" cy="868680"/>
          </a:xfrm>
          <a:prstGeom prst="ellipse">
            <a:avLst/>
          </a:prstGeom>
          <a:solidFill>
            <a:srgbClr val="0F766E"/>
          </a:solidFill>
          <a:ln w="12700">
            <a:solidFill>
              <a:srgbClr val="0F766E"/>
            </a:solidFill>
            <a:prstDash val="solid"/>
          </a:ln>
        </p:spPr>
      </p:sp>
      <p:sp>
        <p:nvSpPr>
          <p:cNvPr id="19" name="Text 16"/>
          <p:cNvSpPr txBox="1"/>
          <p:nvPr/>
        </p:nvSpPr>
        <p:spPr>
          <a:xfrm>
            <a:off x="6507328" y="192024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R</a:t>
            </a:r>
            <a:endParaRPr lang="en-US" sz="3200" dirty="0"/>
          </a:p>
        </p:txBody>
      </p:sp>
      <p:sp>
        <p:nvSpPr>
          <p:cNvPr id="20" name="Text 17"/>
          <p:cNvSpPr txBox="1"/>
          <p:nvPr/>
        </p:nvSpPr>
        <p:spPr>
          <a:xfrm>
            <a:off x="6507328" y="2926080"/>
            <a:ext cx="2019224"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React 19</a:t>
            </a:r>
            <a:endParaRPr lang="en-US" sz="2000" dirty="0"/>
          </a:p>
        </p:txBody>
      </p:sp>
      <p:sp>
        <p:nvSpPr>
          <p:cNvPr id="21" name="Text 18"/>
          <p:cNvSpPr txBox="1"/>
          <p:nvPr/>
        </p:nvSpPr>
        <p:spPr>
          <a:xfrm>
            <a:off x="6507328" y="3383280"/>
            <a:ext cx="2019224"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Single-page app: 7 pages, React Router, shared login state via Context.</a:t>
            </a:r>
            <a:endParaRPr lang="en-US" sz="1400" dirty="0"/>
          </a:p>
        </p:txBody>
      </p:sp>
      <p:sp>
        <p:nvSpPr>
          <p:cNvPr id="22" name="Shape 19"/>
          <p:cNvSpPr/>
          <p:nvPr/>
        </p:nvSpPr>
        <p:spPr>
          <a:xfrm>
            <a:off x="9075191" y="1691640"/>
            <a:ext cx="2567864" cy="3108960"/>
          </a:xfrm>
          <a:prstGeom prst="roundRect">
            <a:avLst>
              <a:gd name="adj" fmla="val 3561"/>
            </a:avLst>
          </a:prstGeom>
          <a:solidFill>
            <a:srgbClr val="E6F2EF"/>
          </a:solidFill>
          <a:ln w="12700">
            <a:solidFill>
              <a:srgbClr val="E6F2EF"/>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9349511" y="1920240"/>
            <a:ext cx="868680" cy="868680"/>
          </a:xfrm>
          <a:prstGeom prst="ellipse">
            <a:avLst/>
          </a:prstGeom>
          <a:solidFill>
            <a:srgbClr val="0F766E"/>
          </a:solidFill>
          <a:ln w="12700">
            <a:solidFill>
              <a:srgbClr val="0F766E"/>
            </a:solidFill>
            <a:prstDash val="solid"/>
          </a:ln>
        </p:spPr>
      </p:sp>
      <p:sp>
        <p:nvSpPr>
          <p:cNvPr id="24" name="Text 21"/>
          <p:cNvSpPr txBox="1"/>
          <p:nvPr/>
        </p:nvSpPr>
        <p:spPr>
          <a:xfrm>
            <a:off x="9349511" y="192024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N</a:t>
            </a:r>
            <a:endParaRPr lang="en-US" sz="3200" dirty="0"/>
          </a:p>
        </p:txBody>
      </p:sp>
      <p:sp>
        <p:nvSpPr>
          <p:cNvPr id="25" name="Text 22"/>
          <p:cNvSpPr txBox="1"/>
          <p:nvPr/>
        </p:nvSpPr>
        <p:spPr>
          <a:xfrm>
            <a:off x="9349511" y="2926080"/>
            <a:ext cx="2019224" cy="411480"/>
          </a:xfrm>
          <a:prstGeom prst="rect">
            <a:avLst/>
          </a:prstGeom>
          <a:noFill/>
          <a:ln/>
        </p:spPr>
        <p:txBody>
          <a:bodyPr wrap="square" lIns="0" tIns="0" rIns="0" bIns="0" rtlCol="0" anchor="t"/>
          <a:lstStyle/>
          <a:p>
            <a:pPr indent="0" marL="0">
              <a:buNone/>
            </a:pPr>
            <a:r>
              <a:rPr lang="en-US" sz="2000" b="1" dirty="0">
                <a:solidFill>
                  <a:srgbClr val="0B3B37"/>
                </a:solidFill>
                <a:latin typeface="Calibri" pitchFamily="34" charset="0"/>
                <a:ea typeface="Calibri" pitchFamily="34" charset="-122"/>
                <a:cs typeface="Calibri" pitchFamily="34" charset="-120"/>
              </a:rPr>
              <a:t>Node.js 24</a:t>
            </a:r>
            <a:endParaRPr lang="en-US" sz="2000" dirty="0"/>
          </a:p>
        </p:txBody>
      </p:sp>
      <p:sp>
        <p:nvSpPr>
          <p:cNvPr id="26" name="Text 23"/>
          <p:cNvSpPr txBox="1"/>
          <p:nvPr/>
        </p:nvSpPr>
        <p:spPr>
          <a:xfrm>
            <a:off x="9349511" y="3383280"/>
            <a:ext cx="2019224"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Runs the API and the Vite dev server; one command to start each.</a:t>
            </a:r>
            <a:endParaRPr lang="en-US" sz="1400" dirty="0"/>
          </a:p>
        </p:txBody>
      </p:sp>
      <p:sp>
        <p:nvSpPr>
          <p:cNvPr id="27" name="Shape 24"/>
          <p:cNvSpPr/>
          <p:nvPr/>
        </p:nvSpPr>
        <p:spPr>
          <a:xfrm>
            <a:off x="548640" y="5074920"/>
            <a:ext cx="11094415" cy="1097280"/>
          </a:xfrm>
          <a:prstGeom prst="roundRect">
            <a:avLst>
              <a:gd name="adj" fmla="val 8333"/>
            </a:avLst>
          </a:prstGeom>
          <a:solidFill>
            <a:srgbClr val="F3F4F6"/>
          </a:solidFill>
          <a:ln w="12700">
            <a:solidFill>
              <a:srgbClr val="F3F4F6"/>
            </a:solidFill>
            <a:prstDash val="solid"/>
          </a:ln>
        </p:spPr>
      </p:sp>
      <p:sp>
        <p:nvSpPr>
          <p:cNvPr id="28" name="Text 25"/>
          <p:cNvSpPr txBox="1"/>
          <p:nvPr/>
        </p:nvSpPr>
        <p:spPr>
          <a:xfrm>
            <a:off x="822960" y="5212080"/>
            <a:ext cx="2743200" cy="320040"/>
          </a:xfrm>
          <a:prstGeom prst="rect">
            <a:avLst/>
          </a:prstGeom>
          <a:noFill/>
          <a:ln/>
        </p:spPr>
        <p:txBody>
          <a:bodyPr wrap="square" lIns="0" tIns="0" rIns="0" bIns="0" rtlCol="0" anchor="t"/>
          <a:lstStyle/>
          <a:p>
            <a:pPr indent="0" marL="0">
              <a:buNone/>
            </a:pPr>
            <a:r>
              <a:rPr lang="en-US" sz="1400" b="1" dirty="0">
                <a:solidFill>
                  <a:srgbClr val="0B3B37"/>
                </a:solidFill>
                <a:latin typeface="Calibri" pitchFamily="34" charset="0"/>
                <a:ea typeface="Calibri" pitchFamily="34" charset="-122"/>
                <a:cs typeface="Calibri" pitchFamily="34" charset="-120"/>
              </a:rPr>
              <a:t>Supporting libraries</a:t>
            </a:r>
            <a:endParaRPr lang="en-US" sz="1400" dirty="0"/>
          </a:p>
        </p:txBody>
      </p:sp>
      <p:sp>
        <p:nvSpPr>
          <p:cNvPr id="29" name="Text 26"/>
          <p:cNvSpPr txBox="1"/>
          <p:nvPr/>
        </p:nvSpPr>
        <p:spPr>
          <a:xfrm>
            <a:off x="822960" y="5577840"/>
            <a:ext cx="10545775"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bcryptjs (password hashing)   |   jsonwebtoken (login sessions)   |   multer (photo upload)   |   axios (HTTP from React)   |   Vite (dev server &amp; proxy)   |   node:test (automated tests)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49174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14426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3  |  Development</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Live demonstration</a:t>
            </a:r>
            <a:endParaRPr lang="en-US" sz="3400" dirty="0"/>
          </a:p>
        </p:txBody>
      </p:sp>
      <p:sp>
        <p:nvSpPr>
          <p:cNvPr id="7" name="Shape 4"/>
          <p:cNvSpPr/>
          <p:nvPr/>
        </p:nvSpPr>
        <p:spPr>
          <a:xfrm>
            <a:off x="548640" y="1691640"/>
            <a:ext cx="3515258" cy="1554480"/>
          </a:xfrm>
          <a:prstGeom prst="roundRect">
            <a:avLst>
              <a:gd name="adj" fmla="val 5882"/>
            </a:avLst>
          </a:prstGeom>
          <a:solidFill>
            <a:srgbClr val="E6F2EF"/>
          </a:solidFill>
          <a:ln w="12700">
            <a:solidFill>
              <a:srgbClr val="E6F2EF"/>
            </a:solidFill>
            <a:prstDash val="solid"/>
          </a:ln>
        </p:spPr>
      </p:sp>
      <p:sp>
        <p:nvSpPr>
          <p:cNvPr id="8" name="Shape 5"/>
          <p:cNvSpPr/>
          <p:nvPr/>
        </p:nvSpPr>
        <p:spPr>
          <a:xfrm>
            <a:off x="777240" y="1920240"/>
            <a:ext cx="502920" cy="502920"/>
          </a:xfrm>
          <a:prstGeom prst="ellipse">
            <a:avLst/>
          </a:prstGeom>
          <a:solidFill>
            <a:srgbClr val="0F766E"/>
          </a:solidFill>
          <a:ln w="12700">
            <a:solidFill>
              <a:srgbClr val="0F766E"/>
            </a:solidFill>
            <a:prstDash val="solid"/>
          </a:ln>
        </p:spPr>
      </p:sp>
      <p:sp>
        <p:nvSpPr>
          <p:cNvPr id="9" name="Text 6"/>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1463040" y="192024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Browse &amp; search</a:t>
            </a:r>
            <a:endParaRPr lang="en-US" sz="1800" dirty="0"/>
          </a:p>
        </p:txBody>
      </p:sp>
      <p:sp>
        <p:nvSpPr>
          <p:cNvPr id="11" name="Text 8"/>
          <p:cNvSpPr txBox="1"/>
          <p:nvPr/>
        </p:nvSpPr>
        <p:spPr>
          <a:xfrm>
            <a:off x="1463040" y="246888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Search "bottle" while logged out - contact details hidden</a:t>
            </a:r>
            <a:endParaRPr lang="en-US" sz="1400" dirty="0"/>
          </a:p>
        </p:txBody>
      </p:sp>
      <p:sp>
        <p:nvSpPr>
          <p:cNvPr id="12" name="Shape 9"/>
          <p:cNvSpPr/>
          <p:nvPr/>
        </p:nvSpPr>
        <p:spPr>
          <a:xfrm>
            <a:off x="4338218" y="1691640"/>
            <a:ext cx="3515258" cy="1554480"/>
          </a:xfrm>
          <a:prstGeom prst="roundRect">
            <a:avLst>
              <a:gd name="adj" fmla="val 5882"/>
            </a:avLst>
          </a:prstGeom>
          <a:solidFill>
            <a:srgbClr val="E6F2EF"/>
          </a:solidFill>
          <a:ln w="12700">
            <a:solidFill>
              <a:srgbClr val="E6F2EF"/>
            </a:solidFill>
            <a:prstDash val="solid"/>
          </a:ln>
        </p:spPr>
      </p:sp>
      <p:sp>
        <p:nvSpPr>
          <p:cNvPr id="13" name="Shape 10"/>
          <p:cNvSpPr/>
          <p:nvPr/>
        </p:nvSpPr>
        <p:spPr>
          <a:xfrm>
            <a:off x="4566818" y="1920240"/>
            <a:ext cx="502920" cy="502920"/>
          </a:xfrm>
          <a:prstGeom prst="ellipse">
            <a:avLst/>
          </a:prstGeom>
          <a:solidFill>
            <a:srgbClr val="0F766E"/>
          </a:solidFill>
          <a:ln w="12700">
            <a:solidFill>
              <a:srgbClr val="0F766E"/>
            </a:solidFill>
            <a:prstDash val="solid"/>
          </a:ln>
        </p:spPr>
      </p:sp>
      <p:sp>
        <p:nvSpPr>
          <p:cNvPr id="14" name="Text 11"/>
          <p:cNvSpPr txBox="1"/>
          <p:nvPr/>
        </p:nvSpPr>
        <p:spPr>
          <a:xfrm>
            <a:off x="4566818"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5252618" y="192024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Post an item</a:t>
            </a:r>
            <a:endParaRPr lang="en-US" sz="1800" dirty="0"/>
          </a:p>
        </p:txBody>
      </p:sp>
      <p:sp>
        <p:nvSpPr>
          <p:cNvPr id="16" name="Text 13"/>
          <p:cNvSpPr txBox="1"/>
          <p:nvPr/>
        </p:nvSpPr>
        <p:spPr>
          <a:xfrm>
            <a:off x="5252618" y="246888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Log in as Aarav, post a found item with a photo</a:t>
            </a:r>
            <a:endParaRPr lang="en-US" sz="1400" dirty="0"/>
          </a:p>
        </p:txBody>
      </p:sp>
      <p:sp>
        <p:nvSpPr>
          <p:cNvPr id="17" name="Shape 14"/>
          <p:cNvSpPr/>
          <p:nvPr/>
        </p:nvSpPr>
        <p:spPr>
          <a:xfrm>
            <a:off x="8127797" y="1691640"/>
            <a:ext cx="3515258" cy="1554480"/>
          </a:xfrm>
          <a:prstGeom prst="roundRect">
            <a:avLst>
              <a:gd name="adj" fmla="val 5882"/>
            </a:avLst>
          </a:prstGeom>
          <a:solidFill>
            <a:srgbClr val="E6F2EF"/>
          </a:solidFill>
          <a:ln w="12700">
            <a:solidFill>
              <a:srgbClr val="E6F2EF"/>
            </a:solidFill>
            <a:prstDash val="solid"/>
          </a:ln>
        </p:spPr>
      </p:sp>
      <p:sp>
        <p:nvSpPr>
          <p:cNvPr id="18" name="Shape 15"/>
          <p:cNvSpPr/>
          <p:nvPr/>
        </p:nvSpPr>
        <p:spPr>
          <a:xfrm>
            <a:off x="8356397" y="1920240"/>
            <a:ext cx="502920" cy="502920"/>
          </a:xfrm>
          <a:prstGeom prst="ellipse">
            <a:avLst/>
          </a:prstGeom>
          <a:solidFill>
            <a:srgbClr val="0F766E"/>
          </a:solidFill>
          <a:ln w="12700">
            <a:solidFill>
              <a:srgbClr val="0F766E"/>
            </a:solidFill>
            <a:prstDash val="solid"/>
          </a:ln>
        </p:spPr>
      </p:sp>
      <p:sp>
        <p:nvSpPr>
          <p:cNvPr id="19" name="Text 16"/>
          <p:cNvSpPr txBox="1"/>
          <p:nvPr/>
        </p:nvSpPr>
        <p:spPr>
          <a:xfrm>
            <a:off x="8356397"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9042197" y="192024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Send a claim</a:t>
            </a:r>
            <a:endParaRPr lang="en-US" sz="1800" dirty="0"/>
          </a:p>
        </p:txBody>
      </p:sp>
      <p:sp>
        <p:nvSpPr>
          <p:cNvPr id="21" name="Text 18"/>
          <p:cNvSpPr txBox="1"/>
          <p:nvPr/>
        </p:nvSpPr>
        <p:spPr>
          <a:xfrm>
            <a:off x="9042197" y="246888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As Priya (private window), claim it with proof of ownership</a:t>
            </a:r>
            <a:endParaRPr lang="en-US" sz="1400" dirty="0"/>
          </a:p>
        </p:txBody>
      </p:sp>
      <p:sp>
        <p:nvSpPr>
          <p:cNvPr id="22" name="Shape 19"/>
          <p:cNvSpPr/>
          <p:nvPr/>
        </p:nvSpPr>
        <p:spPr>
          <a:xfrm>
            <a:off x="548640" y="3474720"/>
            <a:ext cx="3515258" cy="1554480"/>
          </a:xfrm>
          <a:prstGeom prst="roundRect">
            <a:avLst>
              <a:gd name="adj" fmla="val 5882"/>
            </a:avLst>
          </a:prstGeom>
          <a:solidFill>
            <a:srgbClr val="F3F4F6"/>
          </a:solidFill>
          <a:ln w="12700">
            <a:solidFill>
              <a:srgbClr val="F3F4F6"/>
            </a:solidFill>
            <a:prstDash val="solid"/>
          </a:ln>
        </p:spPr>
      </p:sp>
      <p:sp>
        <p:nvSpPr>
          <p:cNvPr id="23" name="Shape 20"/>
          <p:cNvSpPr/>
          <p:nvPr/>
        </p:nvSpPr>
        <p:spPr>
          <a:xfrm>
            <a:off x="777240" y="3703320"/>
            <a:ext cx="502920" cy="502920"/>
          </a:xfrm>
          <a:prstGeom prst="ellipse">
            <a:avLst/>
          </a:prstGeom>
          <a:solidFill>
            <a:srgbClr val="0F766E"/>
          </a:solidFill>
          <a:ln w="12700">
            <a:solidFill>
              <a:srgbClr val="0F766E"/>
            </a:solidFill>
            <a:prstDash val="solid"/>
          </a:ln>
        </p:spPr>
      </p:sp>
      <p:sp>
        <p:nvSpPr>
          <p:cNvPr id="24" name="Text 21"/>
          <p:cNvSpPr txBox="1"/>
          <p:nvPr/>
        </p:nvSpPr>
        <p:spPr>
          <a:xfrm>
            <a:off x="777240"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1463040" y="370332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Approve</a:t>
            </a:r>
            <a:endParaRPr lang="en-US" sz="1800" dirty="0"/>
          </a:p>
        </p:txBody>
      </p:sp>
      <p:sp>
        <p:nvSpPr>
          <p:cNvPr id="26" name="Text 23"/>
          <p:cNvSpPr txBox="1"/>
          <p:nvPr/>
        </p:nvSpPr>
        <p:spPr>
          <a:xfrm>
            <a:off x="1463040" y="425196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As Aarav, open Requests and approve Priya's claim</a:t>
            </a:r>
            <a:endParaRPr lang="en-US" sz="1400" dirty="0"/>
          </a:p>
        </p:txBody>
      </p:sp>
      <p:sp>
        <p:nvSpPr>
          <p:cNvPr id="27" name="Shape 24"/>
          <p:cNvSpPr/>
          <p:nvPr/>
        </p:nvSpPr>
        <p:spPr>
          <a:xfrm>
            <a:off x="4338218" y="3474720"/>
            <a:ext cx="3515258" cy="1554480"/>
          </a:xfrm>
          <a:prstGeom prst="roundRect">
            <a:avLst>
              <a:gd name="adj" fmla="val 5882"/>
            </a:avLst>
          </a:prstGeom>
          <a:solidFill>
            <a:srgbClr val="F3F4F6"/>
          </a:solidFill>
          <a:ln w="12700">
            <a:solidFill>
              <a:srgbClr val="F3F4F6"/>
            </a:solidFill>
            <a:prstDash val="solid"/>
          </a:ln>
        </p:spPr>
      </p:sp>
      <p:sp>
        <p:nvSpPr>
          <p:cNvPr id="28" name="Shape 25"/>
          <p:cNvSpPr/>
          <p:nvPr/>
        </p:nvSpPr>
        <p:spPr>
          <a:xfrm>
            <a:off x="4566818" y="3703320"/>
            <a:ext cx="502920" cy="502920"/>
          </a:xfrm>
          <a:prstGeom prst="ellipse">
            <a:avLst/>
          </a:prstGeom>
          <a:solidFill>
            <a:srgbClr val="0F766E"/>
          </a:solidFill>
          <a:ln w="12700">
            <a:solidFill>
              <a:srgbClr val="0F766E"/>
            </a:solidFill>
            <a:prstDash val="solid"/>
          </a:ln>
        </p:spPr>
      </p:sp>
      <p:sp>
        <p:nvSpPr>
          <p:cNvPr id="29" name="Text 26"/>
          <p:cNvSpPr txBox="1"/>
          <p:nvPr/>
        </p:nvSpPr>
        <p:spPr>
          <a:xfrm>
            <a:off x="4566818"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7"/>
          <p:cNvSpPr txBox="1"/>
          <p:nvPr/>
        </p:nvSpPr>
        <p:spPr>
          <a:xfrm>
            <a:off x="5252618" y="370332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Returned</a:t>
            </a:r>
            <a:endParaRPr lang="en-US" sz="1800" dirty="0"/>
          </a:p>
        </p:txBody>
      </p:sp>
      <p:sp>
        <p:nvSpPr>
          <p:cNvPr id="31" name="Text 28"/>
          <p:cNvSpPr txBox="1"/>
          <p:nvPr/>
        </p:nvSpPr>
        <p:spPr>
          <a:xfrm>
            <a:off x="5252618" y="425196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Item shows "Returned"; Priya sees "Approved"</a:t>
            </a:r>
            <a:endParaRPr lang="en-US" sz="1400" dirty="0"/>
          </a:p>
        </p:txBody>
      </p:sp>
      <p:sp>
        <p:nvSpPr>
          <p:cNvPr id="32" name="Shape 29"/>
          <p:cNvSpPr/>
          <p:nvPr/>
        </p:nvSpPr>
        <p:spPr>
          <a:xfrm>
            <a:off x="8127797" y="3474720"/>
            <a:ext cx="3515258" cy="1554480"/>
          </a:xfrm>
          <a:prstGeom prst="roundRect">
            <a:avLst>
              <a:gd name="adj" fmla="val 5882"/>
            </a:avLst>
          </a:prstGeom>
          <a:solidFill>
            <a:srgbClr val="F3F4F6"/>
          </a:solidFill>
          <a:ln w="12700">
            <a:solidFill>
              <a:srgbClr val="F3F4F6"/>
            </a:solidFill>
            <a:prstDash val="solid"/>
          </a:ln>
        </p:spPr>
      </p:sp>
      <p:sp>
        <p:nvSpPr>
          <p:cNvPr id="33" name="Shape 30"/>
          <p:cNvSpPr/>
          <p:nvPr/>
        </p:nvSpPr>
        <p:spPr>
          <a:xfrm>
            <a:off x="8356397" y="3703320"/>
            <a:ext cx="502920" cy="502920"/>
          </a:xfrm>
          <a:prstGeom prst="ellipse">
            <a:avLst/>
          </a:prstGeom>
          <a:solidFill>
            <a:srgbClr val="0F766E"/>
          </a:solidFill>
          <a:ln w="12700">
            <a:solidFill>
              <a:srgbClr val="0F766E"/>
            </a:solidFill>
            <a:prstDash val="solid"/>
          </a:ln>
        </p:spPr>
      </p:sp>
      <p:sp>
        <p:nvSpPr>
          <p:cNvPr id="34" name="Text 31"/>
          <p:cNvSpPr txBox="1"/>
          <p:nvPr/>
        </p:nvSpPr>
        <p:spPr>
          <a:xfrm>
            <a:off x="8356397"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5" name="Text 32"/>
          <p:cNvSpPr txBox="1"/>
          <p:nvPr/>
        </p:nvSpPr>
        <p:spPr>
          <a:xfrm>
            <a:off x="9042197" y="3703320"/>
            <a:ext cx="2417978" cy="502920"/>
          </a:xfrm>
          <a:prstGeom prst="rect">
            <a:avLst/>
          </a:prstGeom>
          <a:noFill/>
          <a:ln/>
        </p:spPr>
        <p:txBody>
          <a:bodyPr wrap="square" lIns="0" tIns="0" rIns="0" bIns="0" rtlCol="0" anchor="ctr"/>
          <a:lstStyle/>
          <a:p>
            <a:pPr indent="0" marL="0">
              <a:buNone/>
            </a:pPr>
            <a:r>
              <a:rPr lang="en-US" sz="1800" b="1" dirty="0">
                <a:solidFill>
                  <a:srgbClr val="0B3B37"/>
                </a:solidFill>
                <a:latin typeface="Calibri" pitchFamily="34" charset="0"/>
                <a:ea typeface="Calibri" pitchFamily="34" charset="-122"/>
                <a:cs typeface="Calibri" pitchFamily="34" charset="-120"/>
              </a:rPr>
              <a:t>Validation</a:t>
            </a:r>
            <a:endParaRPr lang="en-US" sz="1800" dirty="0"/>
          </a:p>
        </p:txBody>
      </p:sp>
      <p:sp>
        <p:nvSpPr>
          <p:cNvPr id="36" name="Text 33"/>
          <p:cNvSpPr txBox="1"/>
          <p:nvPr/>
        </p:nvSpPr>
        <p:spPr>
          <a:xfrm>
            <a:off x="9042197" y="4251960"/>
            <a:ext cx="2417978"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Try to claim your own post - clear error message</a:t>
            </a:r>
            <a:endParaRPr lang="en-US" sz="1400" dirty="0"/>
          </a:p>
        </p:txBody>
      </p:sp>
      <p:sp>
        <p:nvSpPr>
          <p:cNvPr id="37" name="Shape 34"/>
          <p:cNvSpPr/>
          <p:nvPr/>
        </p:nvSpPr>
        <p:spPr>
          <a:xfrm>
            <a:off x="548640" y="5394960"/>
            <a:ext cx="11094415" cy="777240"/>
          </a:xfrm>
          <a:prstGeom prst="roundRect">
            <a:avLst>
              <a:gd name="adj" fmla="val 11765"/>
            </a:avLst>
          </a:prstGeom>
          <a:solidFill>
            <a:srgbClr val="FEF3C7"/>
          </a:solidFill>
          <a:ln w="12700">
            <a:solidFill>
              <a:srgbClr val="FEF3C7"/>
            </a:solidFill>
            <a:prstDash val="solid"/>
          </a:ln>
        </p:spPr>
      </p:sp>
      <p:sp>
        <p:nvSpPr>
          <p:cNvPr id="38" name="Text 35"/>
          <p:cNvSpPr txBox="1"/>
          <p:nvPr/>
        </p:nvSpPr>
        <p:spPr>
          <a:xfrm>
            <a:off x="822960" y="5394960"/>
            <a:ext cx="10545775" cy="777240"/>
          </a:xfrm>
          <a:prstGeom prst="rect">
            <a:avLst/>
          </a:prstGeom>
          <a:noFill/>
          <a:ln/>
        </p:spPr>
        <p:txBody>
          <a:bodyPr wrap="square" lIns="0" tIns="0" rIns="0" bIns="0" rtlCol="0" anchor="ctr"/>
          <a:lstStyle/>
          <a:p>
            <a:pPr indent="0" marL="0">
              <a:buNone/>
            </a:pPr>
            <a:r>
              <a:rPr lang="en-US" sz="1400" b="1" dirty="0">
                <a:solidFill>
                  <a:srgbClr val="0B3B37"/>
                </a:solidFill>
                <a:latin typeface="Calibri" pitchFamily="34" charset="0"/>
                <a:ea typeface="Calibri" pitchFamily="34" charset="-122"/>
                <a:cs typeface="Calibri" pitchFamily="34" charset="-120"/>
              </a:rPr>
              <a:t>Demo logins (password123):   aarav@campus.edu   |   priya@campus.edu   |   rahul@campus.edu      Site: http://localhost:5173</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49174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14426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3  |  Development</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Validation, error handling &amp; security</a:t>
            </a:r>
            <a:endParaRPr lang="en-US" sz="3400" dirty="0"/>
          </a:p>
        </p:txBody>
      </p:sp>
      <p:sp>
        <p:nvSpPr>
          <p:cNvPr id="7" name="Shape 4"/>
          <p:cNvSpPr/>
          <p:nvPr/>
        </p:nvSpPr>
        <p:spPr>
          <a:xfrm>
            <a:off x="548640" y="1691640"/>
            <a:ext cx="5364328" cy="1234440"/>
          </a:xfrm>
          <a:prstGeom prst="roundRect">
            <a:avLst>
              <a:gd name="adj" fmla="val 7407"/>
            </a:avLst>
          </a:prstGeom>
          <a:solidFill>
            <a:srgbClr val="E6F2EF"/>
          </a:solidFill>
          <a:ln w="12700">
            <a:solidFill>
              <a:srgbClr val="E6F2EF"/>
            </a:solidFill>
            <a:prstDash val="solid"/>
          </a:ln>
        </p:spPr>
      </p:sp>
      <p:sp>
        <p:nvSpPr>
          <p:cNvPr id="8" name="Shape 5"/>
          <p:cNvSpPr/>
          <p:nvPr/>
        </p:nvSpPr>
        <p:spPr>
          <a:xfrm>
            <a:off x="777240" y="2039112"/>
            <a:ext cx="548640" cy="548640"/>
          </a:xfrm>
          <a:prstGeom prst="ellipse">
            <a:avLst/>
          </a:prstGeom>
          <a:solidFill>
            <a:srgbClr val="0F766E"/>
          </a:solidFill>
          <a:ln w="12700">
            <a:solidFill>
              <a:srgbClr val="0F766E"/>
            </a:solidFill>
            <a:prstDash val="solid"/>
          </a:ln>
        </p:spPr>
      </p:sp>
      <p:sp>
        <p:nvSpPr>
          <p:cNvPr id="9" name="Text 6"/>
          <p:cNvSpPr txBox="1"/>
          <p:nvPr/>
        </p:nvSpPr>
        <p:spPr>
          <a:xfrm>
            <a:off x="777240" y="203911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7"/>
          <p:cNvSpPr txBox="1"/>
          <p:nvPr/>
        </p:nvSpPr>
        <p:spPr>
          <a:xfrm>
            <a:off x="1554480" y="187452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Hashed passwords</a:t>
            </a:r>
            <a:endParaRPr lang="en-US" sz="1800" dirty="0"/>
          </a:p>
        </p:txBody>
      </p:sp>
      <p:sp>
        <p:nvSpPr>
          <p:cNvPr id="11" name="Text 8"/>
          <p:cNvSpPr txBox="1"/>
          <p:nvPr/>
        </p:nvSpPr>
        <p:spPr>
          <a:xfrm>
            <a:off x="1554480" y="228600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bcrypt hash before saving; the password field is never returned by the API.</a:t>
            </a:r>
            <a:endParaRPr lang="en-US" sz="1400" dirty="0"/>
          </a:p>
        </p:txBody>
      </p:sp>
      <p:sp>
        <p:nvSpPr>
          <p:cNvPr id="12" name="Shape 9"/>
          <p:cNvSpPr/>
          <p:nvPr/>
        </p:nvSpPr>
        <p:spPr>
          <a:xfrm>
            <a:off x="6278728" y="1691640"/>
            <a:ext cx="5364328" cy="1234440"/>
          </a:xfrm>
          <a:prstGeom prst="roundRect">
            <a:avLst>
              <a:gd name="adj" fmla="val 7407"/>
            </a:avLst>
          </a:prstGeom>
          <a:solidFill>
            <a:srgbClr val="E6F2EF"/>
          </a:solidFill>
          <a:ln w="12700">
            <a:solidFill>
              <a:srgbClr val="E6F2EF"/>
            </a:solidFill>
            <a:prstDash val="solid"/>
          </a:ln>
        </p:spPr>
      </p:sp>
      <p:sp>
        <p:nvSpPr>
          <p:cNvPr id="13" name="Shape 10"/>
          <p:cNvSpPr/>
          <p:nvPr/>
        </p:nvSpPr>
        <p:spPr>
          <a:xfrm>
            <a:off x="6507328" y="2039112"/>
            <a:ext cx="548640" cy="548640"/>
          </a:xfrm>
          <a:prstGeom prst="ellipse">
            <a:avLst/>
          </a:prstGeom>
          <a:solidFill>
            <a:srgbClr val="0F766E"/>
          </a:solidFill>
          <a:ln w="12700">
            <a:solidFill>
              <a:srgbClr val="0F766E"/>
            </a:solidFill>
            <a:prstDash val="solid"/>
          </a:ln>
        </p:spPr>
      </p:sp>
      <p:sp>
        <p:nvSpPr>
          <p:cNvPr id="14" name="Text 11"/>
          <p:cNvSpPr txBox="1"/>
          <p:nvPr/>
        </p:nvSpPr>
        <p:spPr>
          <a:xfrm>
            <a:off x="6507328" y="203911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2"/>
          <p:cNvSpPr txBox="1"/>
          <p:nvPr/>
        </p:nvSpPr>
        <p:spPr>
          <a:xfrm>
            <a:off x="7284568" y="187452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Login sessions</a:t>
            </a:r>
            <a:endParaRPr lang="en-US" sz="1800" dirty="0"/>
          </a:p>
        </p:txBody>
      </p:sp>
      <p:sp>
        <p:nvSpPr>
          <p:cNvPr id="16" name="Text 13"/>
          <p:cNvSpPr txBox="1"/>
          <p:nvPr/>
        </p:nvSpPr>
        <p:spPr>
          <a:xfrm>
            <a:off x="7284568" y="228600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JWT token sent with every request; expires after 7 days.</a:t>
            </a:r>
            <a:endParaRPr lang="en-US" sz="1400" dirty="0"/>
          </a:p>
        </p:txBody>
      </p:sp>
      <p:sp>
        <p:nvSpPr>
          <p:cNvPr id="17" name="Shape 14"/>
          <p:cNvSpPr/>
          <p:nvPr/>
        </p:nvSpPr>
        <p:spPr>
          <a:xfrm>
            <a:off x="548640" y="3154680"/>
            <a:ext cx="5364328" cy="1234440"/>
          </a:xfrm>
          <a:prstGeom prst="roundRect">
            <a:avLst>
              <a:gd name="adj" fmla="val 7407"/>
            </a:avLst>
          </a:prstGeom>
          <a:solidFill>
            <a:srgbClr val="E6F2EF"/>
          </a:solidFill>
          <a:ln w="12700">
            <a:solidFill>
              <a:srgbClr val="E6F2EF"/>
            </a:solidFill>
            <a:prstDash val="solid"/>
          </a:ln>
        </p:spPr>
      </p:sp>
      <p:sp>
        <p:nvSpPr>
          <p:cNvPr id="18" name="Shape 15"/>
          <p:cNvSpPr/>
          <p:nvPr/>
        </p:nvSpPr>
        <p:spPr>
          <a:xfrm>
            <a:off x="777240" y="3502152"/>
            <a:ext cx="548640" cy="548640"/>
          </a:xfrm>
          <a:prstGeom prst="ellipse">
            <a:avLst/>
          </a:prstGeom>
          <a:solidFill>
            <a:srgbClr val="0F766E"/>
          </a:solidFill>
          <a:ln w="12700">
            <a:solidFill>
              <a:srgbClr val="0F766E"/>
            </a:solidFill>
            <a:prstDash val="solid"/>
          </a:ln>
        </p:spPr>
      </p:sp>
      <p:sp>
        <p:nvSpPr>
          <p:cNvPr id="19" name="Text 16"/>
          <p:cNvSpPr txBox="1"/>
          <p:nvPr/>
        </p:nvSpPr>
        <p:spPr>
          <a:xfrm>
            <a:off x="777240" y="350215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7"/>
          <p:cNvSpPr txBox="1"/>
          <p:nvPr/>
        </p:nvSpPr>
        <p:spPr>
          <a:xfrm>
            <a:off x="1554480" y="333756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Ownership checks</a:t>
            </a:r>
            <a:endParaRPr lang="en-US" sz="1800" dirty="0"/>
          </a:p>
        </p:txBody>
      </p:sp>
      <p:sp>
        <p:nvSpPr>
          <p:cNvPr id="21" name="Text 18"/>
          <p:cNvSpPr txBox="1"/>
          <p:nvPr/>
        </p:nvSpPr>
        <p:spPr>
          <a:xfrm>
            <a:off x="1554480" y="374904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Only the poster (or admin) can edit, delete or decide on claims.</a:t>
            </a:r>
            <a:endParaRPr lang="en-US" sz="1400" dirty="0"/>
          </a:p>
        </p:txBody>
      </p:sp>
      <p:sp>
        <p:nvSpPr>
          <p:cNvPr id="22" name="Shape 19"/>
          <p:cNvSpPr/>
          <p:nvPr/>
        </p:nvSpPr>
        <p:spPr>
          <a:xfrm>
            <a:off x="6278728" y="3154680"/>
            <a:ext cx="5364328" cy="1234440"/>
          </a:xfrm>
          <a:prstGeom prst="roundRect">
            <a:avLst>
              <a:gd name="adj" fmla="val 7407"/>
            </a:avLst>
          </a:prstGeom>
          <a:solidFill>
            <a:srgbClr val="E6F2EF"/>
          </a:solidFill>
          <a:ln w="12700">
            <a:solidFill>
              <a:srgbClr val="E6F2EF"/>
            </a:solidFill>
            <a:prstDash val="solid"/>
          </a:ln>
        </p:spPr>
      </p:sp>
      <p:sp>
        <p:nvSpPr>
          <p:cNvPr id="23" name="Shape 20"/>
          <p:cNvSpPr/>
          <p:nvPr/>
        </p:nvSpPr>
        <p:spPr>
          <a:xfrm>
            <a:off x="6507328" y="3502152"/>
            <a:ext cx="548640" cy="548640"/>
          </a:xfrm>
          <a:prstGeom prst="ellipse">
            <a:avLst/>
          </a:prstGeom>
          <a:solidFill>
            <a:srgbClr val="0F766E"/>
          </a:solidFill>
          <a:ln w="12700">
            <a:solidFill>
              <a:srgbClr val="0F766E"/>
            </a:solidFill>
            <a:prstDash val="solid"/>
          </a:ln>
        </p:spPr>
      </p:sp>
      <p:sp>
        <p:nvSpPr>
          <p:cNvPr id="24" name="Text 21"/>
          <p:cNvSpPr txBox="1"/>
          <p:nvPr/>
        </p:nvSpPr>
        <p:spPr>
          <a:xfrm>
            <a:off x="6507328" y="350215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7284568" y="333756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Contact privacy</a:t>
            </a:r>
            <a:endParaRPr lang="en-US" sz="1800" dirty="0"/>
          </a:p>
        </p:txBody>
      </p:sp>
      <p:sp>
        <p:nvSpPr>
          <p:cNvPr id="26" name="Text 23"/>
          <p:cNvSpPr txBox="1"/>
          <p:nvPr/>
        </p:nvSpPr>
        <p:spPr>
          <a:xfrm>
            <a:off x="7284568" y="374904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Email and phone are removed from responses for visitors.</a:t>
            </a:r>
            <a:endParaRPr lang="en-US" sz="1400" dirty="0"/>
          </a:p>
        </p:txBody>
      </p:sp>
      <p:sp>
        <p:nvSpPr>
          <p:cNvPr id="27" name="Shape 24"/>
          <p:cNvSpPr/>
          <p:nvPr/>
        </p:nvSpPr>
        <p:spPr>
          <a:xfrm>
            <a:off x="548640" y="4617720"/>
            <a:ext cx="5364328" cy="1234440"/>
          </a:xfrm>
          <a:prstGeom prst="roundRect">
            <a:avLst>
              <a:gd name="adj" fmla="val 7407"/>
            </a:avLst>
          </a:prstGeom>
          <a:solidFill>
            <a:srgbClr val="E6F2EF"/>
          </a:solidFill>
          <a:ln w="12700">
            <a:solidFill>
              <a:srgbClr val="E6F2EF"/>
            </a:solidFill>
            <a:prstDash val="solid"/>
          </a:ln>
        </p:spPr>
      </p:sp>
      <p:sp>
        <p:nvSpPr>
          <p:cNvPr id="28" name="Shape 25"/>
          <p:cNvSpPr/>
          <p:nvPr/>
        </p:nvSpPr>
        <p:spPr>
          <a:xfrm>
            <a:off x="777240" y="4965192"/>
            <a:ext cx="548640" cy="548640"/>
          </a:xfrm>
          <a:prstGeom prst="ellipse">
            <a:avLst/>
          </a:prstGeom>
          <a:solidFill>
            <a:srgbClr val="0F766E"/>
          </a:solidFill>
          <a:ln w="12700">
            <a:solidFill>
              <a:srgbClr val="0F766E"/>
            </a:solidFill>
            <a:prstDash val="solid"/>
          </a:ln>
        </p:spPr>
      </p:sp>
      <p:sp>
        <p:nvSpPr>
          <p:cNvPr id="29" name="Text 26"/>
          <p:cNvSpPr txBox="1"/>
          <p:nvPr/>
        </p:nvSpPr>
        <p:spPr>
          <a:xfrm>
            <a:off x="777240" y="49651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0" name="Text 27"/>
          <p:cNvSpPr txBox="1"/>
          <p:nvPr/>
        </p:nvSpPr>
        <p:spPr>
          <a:xfrm>
            <a:off x="1554480" y="480060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Safe uploads</a:t>
            </a:r>
            <a:endParaRPr lang="en-US" sz="1800" dirty="0"/>
          </a:p>
        </p:txBody>
      </p:sp>
      <p:sp>
        <p:nvSpPr>
          <p:cNvPr id="31" name="Text 28"/>
          <p:cNvSpPr txBox="1"/>
          <p:nvPr/>
        </p:nvSpPr>
        <p:spPr>
          <a:xfrm>
            <a:off x="1554480" y="521208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Images only, max 5 MB, saved under random UUID file names.</a:t>
            </a:r>
            <a:endParaRPr lang="en-US" sz="1400" dirty="0"/>
          </a:p>
        </p:txBody>
      </p:sp>
      <p:sp>
        <p:nvSpPr>
          <p:cNvPr id="32" name="Shape 29"/>
          <p:cNvSpPr/>
          <p:nvPr/>
        </p:nvSpPr>
        <p:spPr>
          <a:xfrm>
            <a:off x="6278728" y="4617720"/>
            <a:ext cx="5364328" cy="1234440"/>
          </a:xfrm>
          <a:prstGeom prst="roundRect">
            <a:avLst>
              <a:gd name="adj" fmla="val 7407"/>
            </a:avLst>
          </a:prstGeom>
          <a:solidFill>
            <a:srgbClr val="E6F2EF"/>
          </a:solidFill>
          <a:ln w="12700">
            <a:solidFill>
              <a:srgbClr val="E6F2EF"/>
            </a:solidFill>
            <a:prstDash val="solid"/>
          </a:ln>
        </p:spPr>
      </p:sp>
      <p:sp>
        <p:nvSpPr>
          <p:cNvPr id="33" name="Shape 30"/>
          <p:cNvSpPr/>
          <p:nvPr/>
        </p:nvSpPr>
        <p:spPr>
          <a:xfrm>
            <a:off x="6507328" y="4965192"/>
            <a:ext cx="548640" cy="548640"/>
          </a:xfrm>
          <a:prstGeom prst="ellipse">
            <a:avLst/>
          </a:prstGeom>
          <a:solidFill>
            <a:srgbClr val="0F766E"/>
          </a:solidFill>
          <a:ln w="12700">
            <a:solidFill>
              <a:srgbClr val="0F766E"/>
            </a:solidFill>
            <a:prstDash val="solid"/>
          </a:ln>
        </p:spPr>
      </p:sp>
      <p:sp>
        <p:nvSpPr>
          <p:cNvPr id="34" name="Text 31"/>
          <p:cNvSpPr txBox="1"/>
          <p:nvPr/>
        </p:nvSpPr>
        <p:spPr>
          <a:xfrm>
            <a:off x="6507328" y="49651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5" name="Text 32"/>
          <p:cNvSpPr txBox="1"/>
          <p:nvPr/>
        </p:nvSpPr>
        <p:spPr>
          <a:xfrm>
            <a:off x="7284568" y="4800600"/>
            <a:ext cx="4129888" cy="41148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Clear errors</a:t>
            </a:r>
            <a:endParaRPr lang="en-US" sz="1800" dirty="0"/>
          </a:p>
        </p:txBody>
      </p:sp>
      <p:sp>
        <p:nvSpPr>
          <p:cNvPr id="36" name="Text 33"/>
          <p:cNvSpPr txBox="1"/>
          <p:nvPr/>
        </p:nvSpPr>
        <p:spPr>
          <a:xfrm>
            <a:off x="7284568" y="5212080"/>
            <a:ext cx="4129888"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failure returns a readable message, shown in a red banner.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180844"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1833372"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4  |  Testing</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Testing approach</a:t>
            </a:r>
            <a:endParaRPr lang="en-US" sz="3400" dirty="0"/>
          </a:p>
        </p:txBody>
      </p:sp>
      <p:sp>
        <p:nvSpPr>
          <p:cNvPr id="7" name="Shape 4"/>
          <p:cNvSpPr/>
          <p:nvPr/>
        </p:nvSpPr>
        <p:spPr>
          <a:xfrm>
            <a:off x="548640" y="1691640"/>
            <a:ext cx="2567864" cy="1737360"/>
          </a:xfrm>
          <a:prstGeom prst="roundRect">
            <a:avLst>
              <a:gd name="adj" fmla="val 5263"/>
            </a:avLst>
          </a:prstGeom>
          <a:solidFill>
            <a:srgbClr val="E6F2EF"/>
          </a:solidFill>
          <a:ln w="12700">
            <a:solidFill>
              <a:srgbClr val="E6F2EF"/>
            </a:solidFill>
            <a:prstDash val="solid"/>
          </a:ln>
        </p:spPr>
      </p:sp>
      <p:sp>
        <p:nvSpPr>
          <p:cNvPr id="8" name="Text 5"/>
          <p:cNvSpPr txBox="1"/>
          <p:nvPr/>
        </p:nvSpPr>
        <p:spPr>
          <a:xfrm>
            <a:off x="777240" y="1783080"/>
            <a:ext cx="2110664" cy="914400"/>
          </a:xfrm>
          <a:prstGeom prst="rect">
            <a:avLst/>
          </a:prstGeom>
          <a:noFill/>
          <a:ln/>
        </p:spPr>
        <p:txBody>
          <a:bodyPr wrap="square" lIns="0" tIns="0" rIns="0" bIns="0" rtlCol="0" anchor="t"/>
          <a:lstStyle/>
          <a:p>
            <a:pPr indent="0" marL="0">
              <a:buNone/>
            </a:pPr>
            <a:r>
              <a:rPr lang="en-US" sz="5400" b="1" dirty="0">
                <a:solidFill>
                  <a:srgbClr val="0F766E"/>
                </a:solidFill>
                <a:latin typeface="Cambria" pitchFamily="34" charset="0"/>
                <a:ea typeface="Cambria" pitchFamily="34" charset="-122"/>
                <a:cs typeface="Cambria" pitchFamily="34" charset="-120"/>
              </a:rPr>
              <a:t>45</a:t>
            </a:r>
            <a:endParaRPr lang="en-US" sz="5400" dirty="0"/>
          </a:p>
        </p:txBody>
      </p:sp>
      <p:sp>
        <p:nvSpPr>
          <p:cNvPr id="9" name="Text 6"/>
          <p:cNvSpPr txBox="1"/>
          <p:nvPr/>
        </p:nvSpPr>
        <p:spPr>
          <a:xfrm>
            <a:off x="777240" y="2743200"/>
            <a:ext cx="2110664" cy="457200"/>
          </a:xfrm>
          <a:prstGeom prst="rect">
            <a:avLst/>
          </a:prstGeom>
          <a:noFill/>
          <a:ln/>
        </p:spPr>
        <p:txBody>
          <a:bodyPr wrap="square" lIns="0" tIns="0" rIns="0" bIns="0" rtlCol="0" anchor="t"/>
          <a:lstStyle/>
          <a:p>
            <a:pPr indent="0" marL="0">
              <a:buNone/>
            </a:pPr>
            <a:r>
              <a:rPr lang="en-US" sz="1500" b="1" dirty="0">
                <a:solidFill>
                  <a:srgbClr val="0B3B37"/>
                </a:solidFill>
                <a:latin typeface="Calibri" pitchFamily="34" charset="0"/>
                <a:ea typeface="Calibri" pitchFamily="34" charset="-122"/>
                <a:cs typeface="Calibri" pitchFamily="34" charset="-120"/>
              </a:rPr>
              <a:t>automated test cases</a:t>
            </a:r>
            <a:endParaRPr lang="en-US" sz="1500" dirty="0"/>
          </a:p>
        </p:txBody>
      </p:sp>
      <p:sp>
        <p:nvSpPr>
          <p:cNvPr id="10" name="Shape 7"/>
          <p:cNvSpPr/>
          <p:nvPr/>
        </p:nvSpPr>
        <p:spPr>
          <a:xfrm>
            <a:off x="3390824" y="1691640"/>
            <a:ext cx="2567864" cy="1737360"/>
          </a:xfrm>
          <a:prstGeom prst="roundRect">
            <a:avLst>
              <a:gd name="adj" fmla="val 5263"/>
            </a:avLst>
          </a:prstGeom>
          <a:solidFill>
            <a:srgbClr val="E6F2EF"/>
          </a:solidFill>
          <a:ln w="12700">
            <a:solidFill>
              <a:srgbClr val="E6F2EF"/>
            </a:solidFill>
            <a:prstDash val="solid"/>
          </a:ln>
        </p:spPr>
      </p:sp>
      <p:sp>
        <p:nvSpPr>
          <p:cNvPr id="11" name="Text 8"/>
          <p:cNvSpPr txBox="1"/>
          <p:nvPr/>
        </p:nvSpPr>
        <p:spPr>
          <a:xfrm>
            <a:off x="3619424" y="1783080"/>
            <a:ext cx="2110664" cy="914400"/>
          </a:xfrm>
          <a:prstGeom prst="rect">
            <a:avLst/>
          </a:prstGeom>
          <a:noFill/>
          <a:ln/>
        </p:spPr>
        <p:txBody>
          <a:bodyPr wrap="square" lIns="0" tIns="0" rIns="0" bIns="0" rtlCol="0" anchor="t"/>
          <a:lstStyle/>
          <a:p>
            <a:pPr indent="0" marL="0">
              <a:buNone/>
            </a:pPr>
            <a:r>
              <a:rPr lang="en-US" sz="5400" b="1" dirty="0">
                <a:solidFill>
                  <a:srgbClr val="0F766E"/>
                </a:solidFill>
                <a:latin typeface="Cambria" pitchFamily="34" charset="0"/>
                <a:ea typeface="Cambria" pitchFamily="34" charset="-122"/>
                <a:cs typeface="Cambria" pitchFamily="34" charset="-120"/>
              </a:rPr>
              <a:t>10</a:t>
            </a:r>
            <a:endParaRPr lang="en-US" sz="5400" dirty="0"/>
          </a:p>
        </p:txBody>
      </p:sp>
      <p:sp>
        <p:nvSpPr>
          <p:cNvPr id="12" name="Text 9"/>
          <p:cNvSpPr txBox="1"/>
          <p:nvPr/>
        </p:nvSpPr>
        <p:spPr>
          <a:xfrm>
            <a:off x="3619424" y="2743200"/>
            <a:ext cx="2110664" cy="457200"/>
          </a:xfrm>
          <a:prstGeom prst="rect">
            <a:avLst/>
          </a:prstGeom>
          <a:noFill/>
          <a:ln/>
        </p:spPr>
        <p:txBody>
          <a:bodyPr wrap="square" lIns="0" tIns="0" rIns="0" bIns="0" rtlCol="0" anchor="t"/>
          <a:lstStyle/>
          <a:p>
            <a:pPr indent="0" marL="0">
              <a:buNone/>
            </a:pPr>
            <a:r>
              <a:rPr lang="en-US" sz="1500" b="1" dirty="0">
                <a:solidFill>
                  <a:srgbClr val="0B3B37"/>
                </a:solidFill>
                <a:latin typeface="Calibri" pitchFamily="34" charset="0"/>
                <a:ea typeface="Calibri" pitchFamily="34" charset="-122"/>
                <a:cs typeface="Calibri" pitchFamily="34" charset="-120"/>
              </a:rPr>
              <a:t>manual UI test cases</a:t>
            </a:r>
            <a:endParaRPr lang="en-US" sz="1500" dirty="0"/>
          </a:p>
        </p:txBody>
      </p:sp>
      <p:sp>
        <p:nvSpPr>
          <p:cNvPr id="13" name="Shape 10"/>
          <p:cNvSpPr/>
          <p:nvPr/>
        </p:nvSpPr>
        <p:spPr>
          <a:xfrm>
            <a:off x="6233008" y="1691640"/>
            <a:ext cx="2567864" cy="1737360"/>
          </a:xfrm>
          <a:prstGeom prst="roundRect">
            <a:avLst>
              <a:gd name="adj" fmla="val 5263"/>
            </a:avLst>
          </a:prstGeom>
          <a:solidFill>
            <a:srgbClr val="E6F2EF"/>
          </a:solidFill>
          <a:ln w="12700">
            <a:solidFill>
              <a:srgbClr val="E6F2EF"/>
            </a:solidFill>
            <a:prstDash val="solid"/>
          </a:ln>
        </p:spPr>
      </p:sp>
      <p:sp>
        <p:nvSpPr>
          <p:cNvPr id="14" name="Text 11"/>
          <p:cNvSpPr txBox="1"/>
          <p:nvPr/>
        </p:nvSpPr>
        <p:spPr>
          <a:xfrm>
            <a:off x="6461608" y="1783080"/>
            <a:ext cx="2110664" cy="914400"/>
          </a:xfrm>
          <a:prstGeom prst="rect">
            <a:avLst/>
          </a:prstGeom>
          <a:noFill/>
          <a:ln/>
        </p:spPr>
        <p:txBody>
          <a:bodyPr wrap="square" lIns="0" tIns="0" rIns="0" bIns="0" rtlCol="0" anchor="t"/>
          <a:lstStyle/>
          <a:p>
            <a:pPr indent="0" marL="0">
              <a:buNone/>
            </a:pPr>
            <a:r>
              <a:rPr lang="en-US" sz="5400" b="1" dirty="0">
                <a:solidFill>
                  <a:srgbClr val="0F766E"/>
                </a:solidFill>
                <a:latin typeface="Cambria" pitchFamily="34" charset="0"/>
                <a:ea typeface="Cambria" pitchFamily="34" charset="-122"/>
                <a:cs typeface="Cambria" pitchFamily="34" charset="-120"/>
              </a:rPr>
              <a:t>4</a:t>
            </a:r>
            <a:endParaRPr lang="en-US" sz="5400" dirty="0"/>
          </a:p>
        </p:txBody>
      </p:sp>
      <p:sp>
        <p:nvSpPr>
          <p:cNvPr id="15" name="Text 12"/>
          <p:cNvSpPr txBox="1"/>
          <p:nvPr/>
        </p:nvSpPr>
        <p:spPr>
          <a:xfrm>
            <a:off x="6461608" y="2743200"/>
            <a:ext cx="2110664" cy="457200"/>
          </a:xfrm>
          <a:prstGeom prst="rect">
            <a:avLst/>
          </a:prstGeom>
          <a:noFill/>
          <a:ln/>
        </p:spPr>
        <p:txBody>
          <a:bodyPr wrap="square" lIns="0" tIns="0" rIns="0" bIns="0" rtlCol="0" anchor="t"/>
          <a:lstStyle/>
          <a:p>
            <a:pPr indent="0" marL="0">
              <a:buNone/>
            </a:pPr>
            <a:r>
              <a:rPr lang="en-US" sz="1500" b="1" dirty="0">
                <a:solidFill>
                  <a:srgbClr val="0B3B37"/>
                </a:solidFill>
                <a:latin typeface="Calibri" pitchFamily="34" charset="0"/>
                <a:ea typeface="Calibri" pitchFamily="34" charset="-122"/>
                <a:cs typeface="Calibri" pitchFamily="34" charset="-120"/>
              </a:rPr>
              <a:t>defects found &amp; fixed</a:t>
            </a:r>
            <a:endParaRPr lang="en-US" sz="1500" dirty="0"/>
          </a:p>
        </p:txBody>
      </p:sp>
      <p:sp>
        <p:nvSpPr>
          <p:cNvPr id="16" name="Shape 13"/>
          <p:cNvSpPr/>
          <p:nvPr/>
        </p:nvSpPr>
        <p:spPr>
          <a:xfrm>
            <a:off x="9075191" y="1691640"/>
            <a:ext cx="2567864" cy="1737360"/>
          </a:xfrm>
          <a:prstGeom prst="roundRect">
            <a:avLst>
              <a:gd name="adj" fmla="val 5263"/>
            </a:avLst>
          </a:prstGeom>
          <a:solidFill>
            <a:srgbClr val="0B3B37"/>
          </a:solidFill>
          <a:ln w="12700">
            <a:solidFill>
              <a:srgbClr val="0B3B37"/>
            </a:solidFill>
            <a:prstDash val="solid"/>
          </a:ln>
        </p:spPr>
      </p:sp>
      <p:sp>
        <p:nvSpPr>
          <p:cNvPr id="17" name="Text 14"/>
          <p:cNvSpPr txBox="1"/>
          <p:nvPr/>
        </p:nvSpPr>
        <p:spPr>
          <a:xfrm>
            <a:off x="9303791" y="1783080"/>
            <a:ext cx="2110664" cy="914400"/>
          </a:xfrm>
          <a:prstGeom prst="rect">
            <a:avLst/>
          </a:prstGeom>
          <a:noFill/>
          <a:ln/>
        </p:spPr>
        <p:txBody>
          <a:bodyPr wrap="square" lIns="0" tIns="0" rIns="0" bIns="0" rtlCol="0" anchor="t"/>
          <a:lstStyle/>
          <a:p>
            <a:pPr indent="0" marL="0">
              <a:buNone/>
            </a:pPr>
            <a:r>
              <a:rPr lang="en-US" sz="5400" b="1" dirty="0">
                <a:solidFill>
                  <a:srgbClr val="F59E0B"/>
                </a:solidFill>
                <a:latin typeface="Cambria" pitchFamily="34" charset="0"/>
                <a:ea typeface="Cambria" pitchFamily="34" charset="-122"/>
                <a:cs typeface="Cambria" pitchFamily="34" charset="-120"/>
              </a:rPr>
              <a:t>100%</a:t>
            </a:r>
            <a:endParaRPr lang="en-US" sz="5400" dirty="0"/>
          </a:p>
        </p:txBody>
      </p:sp>
      <p:sp>
        <p:nvSpPr>
          <p:cNvPr id="18" name="Text 15"/>
          <p:cNvSpPr txBox="1"/>
          <p:nvPr/>
        </p:nvSpPr>
        <p:spPr>
          <a:xfrm>
            <a:off x="9303791" y="2743200"/>
            <a:ext cx="211066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pass rate after fixes</a:t>
            </a:r>
            <a:endParaRPr lang="en-US" sz="1500" dirty="0"/>
          </a:p>
        </p:txBody>
      </p:sp>
      <p:sp>
        <p:nvSpPr>
          <p:cNvPr id="19" name="Text 16"/>
          <p:cNvSpPr txBox="1"/>
          <p:nvPr/>
        </p:nvSpPr>
        <p:spPr>
          <a:xfrm>
            <a:off x="548640" y="3749040"/>
            <a:ext cx="4572000" cy="365760"/>
          </a:xfrm>
          <a:prstGeom prst="rect">
            <a:avLst/>
          </a:prstGeom>
          <a:noFill/>
          <a:ln/>
        </p:spPr>
        <p:txBody>
          <a:bodyPr wrap="square" lIns="0" tIns="0" rIns="0" bIns="0" rtlCol="0" anchor="t"/>
          <a:lstStyle/>
          <a:p>
            <a:pPr indent="0" marL="0">
              <a:buNone/>
            </a:pPr>
            <a:r>
              <a:rPr lang="en-US" sz="1700" b="1" dirty="0">
                <a:solidFill>
                  <a:srgbClr val="0B3B37"/>
                </a:solidFill>
                <a:latin typeface="Calibri" pitchFamily="34" charset="0"/>
                <a:ea typeface="Calibri" pitchFamily="34" charset="-122"/>
                <a:cs typeface="Calibri" pitchFamily="34" charset="-120"/>
              </a:rPr>
              <a:t>Test types covered</a:t>
            </a:r>
            <a:endParaRPr lang="en-US" sz="1700" dirty="0"/>
          </a:p>
        </p:txBody>
      </p:sp>
      <p:sp>
        <p:nvSpPr>
          <p:cNvPr id="20" name="Shape 17"/>
          <p:cNvSpPr/>
          <p:nvPr/>
        </p:nvSpPr>
        <p:spPr>
          <a:xfrm>
            <a:off x="548640" y="4206240"/>
            <a:ext cx="2359152" cy="384048"/>
          </a:xfrm>
          <a:prstGeom prst="roundRect">
            <a:avLst>
              <a:gd name="adj" fmla="val 47619"/>
            </a:avLst>
          </a:prstGeom>
          <a:solidFill>
            <a:srgbClr val="FFFFFF"/>
          </a:solidFill>
          <a:ln w="19050">
            <a:solidFill>
              <a:srgbClr val="0F766E"/>
            </a:solidFill>
            <a:prstDash val="solid"/>
          </a:ln>
        </p:spPr>
      </p:sp>
      <p:sp>
        <p:nvSpPr>
          <p:cNvPr id="21" name="Text 18"/>
          <p:cNvSpPr txBox="1"/>
          <p:nvPr/>
        </p:nvSpPr>
        <p:spPr>
          <a:xfrm>
            <a:off x="548640" y="4206240"/>
            <a:ext cx="2359152"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System (black box)</a:t>
            </a:r>
            <a:endParaRPr lang="en-US" sz="1400" dirty="0"/>
          </a:p>
        </p:txBody>
      </p:sp>
      <p:sp>
        <p:nvSpPr>
          <p:cNvPr id="22" name="Shape 19"/>
          <p:cNvSpPr/>
          <p:nvPr/>
        </p:nvSpPr>
        <p:spPr>
          <a:xfrm>
            <a:off x="3090672" y="4206240"/>
            <a:ext cx="1554480" cy="384048"/>
          </a:xfrm>
          <a:prstGeom prst="roundRect">
            <a:avLst>
              <a:gd name="adj" fmla="val 47619"/>
            </a:avLst>
          </a:prstGeom>
          <a:solidFill>
            <a:srgbClr val="FFFFFF"/>
          </a:solidFill>
          <a:ln w="19050">
            <a:solidFill>
              <a:srgbClr val="0F766E"/>
            </a:solidFill>
            <a:prstDash val="solid"/>
          </a:ln>
        </p:spPr>
      </p:sp>
      <p:sp>
        <p:nvSpPr>
          <p:cNvPr id="23" name="Text 20"/>
          <p:cNvSpPr txBox="1"/>
          <p:nvPr/>
        </p:nvSpPr>
        <p:spPr>
          <a:xfrm>
            <a:off x="3090672" y="4206240"/>
            <a:ext cx="1554480"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Functional</a:t>
            </a:r>
            <a:endParaRPr lang="en-US" sz="1400" dirty="0"/>
          </a:p>
        </p:txBody>
      </p:sp>
      <p:sp>
        <p:nvSpPr>
          <p:cNvPr id="24" name="Shape 21"/>
          <p:cNvSpPr/>
          <p:nvPr/>
        </p:nvSpPr>
        <p:spPr>
          <a:xfrm>
            <a:off x="4828032" y="4206240"/>
            <a:ext cx="1353312" cy="384048"/>
          </a:xfrm>
          <a:prstGeom prst="roundRect">
            <a:avLst>
              <a:gd name="adj" fmla="val 47619"/>
            </a:avLst>
          </a:prstGeom>
          <a:solidFill>
            <a:srgbClr val="FFFFFF"/>
          </a:solidFill>
          <a:ln w="19050">
            <a:solidFill>
              <a:srgbClr val="0F766E"/>
            </a:solidFill>
            <a:prstDash val="solid"/>
          </a:ln>
        </p:spPr>
      </p:sp>
      <p:sp>
        <p:nvSpPr>
          <p:cNvPr id="25" name="Text 22"/>
          <p:cNvSpPr txBox="1"/>
          <p:nvPr/>
        </p:nvSpPr>
        <p:spPr>
          <a:xfrm>
            <a:off x="4828032" y="4206240"/>
            <a:ext cx="1353312"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Negative</a:t>
            </a:r>
            <a:endParaRPr lang="en-US" sz="1400" dirty="0"/>
          </a:p>
        </p:txBody>
      </p:sp>
      <p:sp>
        <p:nvSpPr>
          <p:cNvPr id="26" name="Shape 23"/>
          <p:cNvSpPr/>
          <p:nvPr/>
        </p:nvSpPr>
        <p:spPr>
          <a:xfrm>
            <a:off x="6364224" y="4206240"/>
            <a:ext cx="1956816" cy="384048"/>
          </a:xfrm>
          <a:prstGeom prst="roundRect">
            <a:avLst>
              <a:gd name="adj" fmla="val 47619"/>
            </a:avLst>
          </a:prstGeom>
          <a:solidFill>
            <a:srgbClr val="FFFFFF"/>
          </a:solidFill>
          <a:ln w="19050">
            <a:solidFill>
              <a:srgbClr val="0F766E"/>
            </a:solidFill>
            <a:prstDash val="solid"/>
          </a:ln>
        </p:spPr>
      </p:sp>
      <p:sp>
        <p:nvSpPr>
          <p:cNvPr id="27" name="Text 24"/>
          <p:cNvSpPr txBox="1"/>
          <p:nvPr/>
        </p:nvSpPr>
        <p:spPr>
          <a:xfrm>
            <a:off x="6364224" y="4206240"/>
            <a:ext cx="1956816"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Boundary value</a:t>
            </a:r>
            <a:endParaRPr lang="en-US" sz="1400" dirty="0"/>
          </a:p>
        </p:txBody>
      </p:sp>
      <p:sp>
        <p:nvSpPr>
          <p:cNvPr id="28" name="Shape 25"/>
          <p:cNvSpPr/>
          <p:nvPr/>
        </p:nvSpPr>
        <p:spPr>
          <a:xfrm>
            <a:off x="8503920" y="4206240"/>
            <a:ext cx="1353312" cy="384048"/>
          </a:xfrm>
          <a:prstGeom prst="roundRect">
            <a:avLst>
              <a:gd name="adj" fmla="val 47619"/>
            </a:avLst>
          </a:prstGeom>
          <a:solidFill>
            <a:srgbClr val="FFFFFF"/>
          </a:solidFill>
          <a:ln w="19050">
            <a:solidFill>
              <a:srgbClr val="0F766E"/>
            </a:solidFill>
            <a:prstDash val="solid"/>
          </a:ln>
        </p:spPr>
      </p:sp>
      <p:sp>
        <p:nvSpPr>
          <p:cNvPr id="29" name="Text 26"/>
          <p:cNvSpPr txBox="1"/>
          <p:nvPr/>
        </p:nvSpPr>
        <p:spPr>
          <a:xfrm>
            <a:off x="8503920" y="4206240"/>
            <a:ext cx="1353312"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Security</a:t>
            </a:r>
            <a:endParaRPr lang="en-US" sz="1400" dirty="0"/>
          </a:p>
        </p:txBody>
      </p:sp>
      <p:sp>
        <p:nvSpPr>
          <p:cNvPr id="30" name="Shape 27"/>
          <p:cNvSpPr/>
          <p:nvPr/>
        </p:nvSpPr>
        <p:spPr>
          <a:xfrm>
            <a:off x="10040112" y="4206240"/>
            <a:ext cx="1554480" cy="384048"/>
          </a:xfrm>
          <a:prstGeom prst="roundRect">
            <a:avLst>
              <a:gd name="adj" fmla="val 47619"/>
            </a:avLst>
          </a:prstGeom>
          <a:solidFill>
            <a:srgbClr val="FFFFFF"/>
          </a:solidFill>
          <a:ln w="19050">
            <a:solidFill>
              <a:srgbClr val="0F766E"/>
            </a:solidFill>
            <a:prstDash val="solid"/>
          </a:ln>
        </p:spPr>
      </p:sp>
      <p:sp>
        <p:nvSpPr>
          <p:cNvPr id="31" name="Text 28"/>
          <p:cNvSpPr txBox="1"/>
          <p:nvPr/>
        </p:nvSpPr>
        <p:spPr>
          <a:xfrm>
            <a:off x="10040112" y="4206240"/>
            <a:ext cx="1554480"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Regression</a:t>
            </a:r>
            <a:endParaRPr lang="en-US" sz="1400" dirty="0"/>
          </a:p>
        </p:txBody>
      </p:sp>
      <p:sp>
        <p:nvSpPr>
          <p:cNvPr id="32" name="Shape 29"/>
          <p:cNvSpPr/>
          <p:nvPr/>
        </p:nvSpPr>
        <p:spPr>
          <a:xfrm>
            <a:off x="548640" y="4709160"/>
            <a:ext cx="1956816" cy="384048"/>
          </a:xfrm>
          <a:prstGeom prst="roundRect">
            <a:avLst>
              <a:gd name="adj" fmla="val 47619"/>
            </a:avLst>
          </a:prstGeom>
          <a:solidFill>
            <a:srgbClr val="FFFFFF"/>
          </a:solidFill>
          <a:ln w="19050">
            <a:solidFill>
              <a:srgbClr val="0F766E"/>
            </a:solidFill>
            <a:prstDash val="solid"/>
          </a:ln>
        </p:spPr>
      </p:sp>
      <p:sp>
        <p:nvSpPr>
          <p:cNvPr id="33" name="Text 30"/>
          <p:cNvSpPr txBox="1"/>
          <p:nvPr/>
        </p:nvSpPr>
        <p:spPr>
          <a:xfrm>
            <a:off x="548640" y="4709160"/>
            <a:ext cx="1956816" cy="384048"/>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UI / usability</a:t>
            </a:r>
            <a:endParaRPr lang="en-US" sz="1400" dirty="0"/>
          </a:p>
        </p:txBody>
      </p:sp>
      <p:sp>
        <p:nvSpPr>
          <p:cNvPr id="34" name="Shape 31"/>
          <p:cNvSpPr/>
          <p:nvPr/>
        </p:nvSpPr>
        <p:spPr>
          <a:xfrm>
            <a:off x="548640" y="5257800"/>
            <a:ext cx="11094415" cy="914400"/>
          </a:xfrm>
          <a:prstGeom prst="roundRect">
            <a:avLst>
              <a:gd name="adj" fmla="val 10000"/>
            </a:avLst>
          </a:prstGeom>
          <a:solidFill>
            <a:srgbClr val="F3F4F6"/>
          </a:solidFill>
          <a:ln w="12700">
            <a:solidFill>
              <a:srgbClr val="F3F4F6"/>
            </a:solidFill>
            <a:prstDash val="solid"/>
          </a:ln>
        </p:spPr>
      </p:sp>
      <p:sp>
        <p:nvSpPr>
          <p:cNvPr id="35" name="Text 32"/>
          <p:cNvSpPr txBox="1"/>
          <p:nvPr/>
        </p:nvSpPr>
        <p:spPr>
          <a:xfrm>
            <a:off x="822960" y="5257800"/>
            <a:ext cx="10545775"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Tool: Node.js built-in test runner  |  Separate test database, wiped before and after  |  One command: npm test  |  File: server/tests/api.test.js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180844"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1833372"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4  |  Testing</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Results and defects</a:t>
            </a:r>
            <a:endParaRPr lang="en-US" sz="3400" dirty="0"/>
          </a:p>
        </p:txBody>
      </p:sp>
      <p:graphicFrame>
        <p:nvGraphicFramePr>
          <p:cNvPr id="7" name="Chart 0" descr=""/>
          <p:cNvGraphicFramePr/>
          <p:nvPr/>
        </p:nvGraphicFramePr>
        <p:xfrm>
          <a:off x="548640" y="160020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640080"/>
                <a:gridCol w="3639312"/>
                <a:gridCol w="10058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Defect found</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r>
              <a:tr h="56692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D-01</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Invalid email addresses are accepted at sign-up</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D-02</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Non-text login input crashes the request (500)</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r>
              <a:tr h="56692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D-03</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Uploading a non-image returns a server error</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b="1" dirty="0">
                          <a:solidFill>
                            <a:srgbClr val="4B5563"/>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D-04</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 returned item can be "returned" again to another claimant</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73152" marB="73152">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3F8F7"/>
                    </a:solidFill>
                  </a:tcPr>
                </a:tc>
              </a:tr>
            </a:tbl>
          </a:graphicData>
        </a:graphic>
      </p:graphicFrame>
      <p:sp>
        <p:nvSpPr>
          <p:cNvPr id="9" name="Shape 4"/>
          <p:cNvSpPr/>
          <p:nvPr/>
        </p:nvSpPr>
        <p:spPr>
          <a:xfrm>
            <a:off x="6355080" y="4892040"/>
            <a:ext cx="5285232" cy="1280160"/>
          </a:xfrm>
          <a:prstGeom prst="roundRect">
            <a:avLst>
              <a:gd name="adj" fmla="val 7143"/>
            </a:avLst>
          </a:prstGeom>
          <a:solidFill>
            <a:srgbClr val="E6F2EF"/>
          </a:solidFill>
          <a:ln w="12700">
            <a:solidFill>
              <a:srgbClr val="E6F2EF"/>
            </a:solidFill>
            <a:prstDash val="solid"/>
          </a:ln>
        </p:spPr>
      </p:sp>
      <p:sp>
        <p:nvSpPr>
          <p:cNvPr id="10" name="Text 5"/>
          <p:cNvSpPr txBox="1"/>
          <p:nvPr/>
        </p:nvSpPr>
        <p:spPr>
          <a:xfrm>
            <a:off x="6583680" y="4983480"/>
            <a:ext cx="4846320" cy="10972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All 4 defects fixed and re-tested (Run 2: 45 / 45 pass). TC-24 failed in Run 1 because the test's expected value was wrong - the test was corrected, not the product.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5  |  Documentation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SRS document (IEEE 830 structure)</a:t>
            </a:r>
            <a:endParaRPr lang="en-US" sz="3400" dirty="0"/>
          </a:p>
        </p:txBody>
      </p:sp>
      <p:sp>
        <p:nvSpPr>
          <p:cNvPr id="7" name="Shape 4"/>
          <p:cNvSpPr/>
          <p:nvPr/>
        </p:nvSpPr>
        <p:spPr>
          <a:xfrm>
            <a:off x="548640" y="1691640"/>
            <a:ext cx="457200" cy="457200"/>
          </a:xfrm>
          <a:prstGeom prst="ellipse">
            <a:avLst/>
          </a:prstGeom>
          <a:solidFill>
            <a:srgbClr val="0F766E"/>
          </a:solidFill>
          <a:ln w="12700">
            <a:solidFill>
              <a:srgbClr val="0F766E"/>
            </a:solidFill>
            <a:prstDash val="solid"/>
          </a:ln>
        </p:spPr>
      </p:sp>
      <p:sp>
        <p:nvSpPr>
          <p:cNvPr id="8" name="Text 5"/>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188720" y="164592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Introduction</a:t>
            </a:r>
            <a:endParaRPr lang="en-US" sz="1600" dirty="0"/>
          </a:p>
        </p:txBody>
      </p:sp>
      <p:sp>
        <p:nvSpPr>
          <p:cNvPr id="10" name="Text 7"/>
          <p:cNvSpPr txBox="1"/>
          <p:nvPr/>
        </p:nvSpPr>
        <p:spPr>
          <a:xfrm>
            <a:off x="3566160" y="164592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Purpose, scope, definitions, references</a:t>
            </a:r>
            <a:endParaRPr lang="en-US" sz="1350" dirty="0"/>
          </a:p>
        </p:txBody>
      </p:sp>
      <p:sp>
        <p:nvSpPr>
          <p:cNvPr id="11" name="Shape 8"/>
          <p:cNvSpPr/>
          <p:nvPr/>
        </p:nvSpPr>
        <p:spPr>
          <a:xfrm>
            <a:off x="548640" y="2331720"/>
            <a:ext cx="457200" cy="457200"/>
          </a:xfrm>
          <a:prstGeom prst="ellipse">
            <a:avLst/>
          </a:prstGeom>
          <a:solidFill>
            <a:srgbClr val="0F766E"/>
          </a:solidFill>
          <a:ln w="12700">
            <a:solidFill>
              <a:srgbClr val="0F766E"/>
            </a:solidFill>
            <a:prstDash val="solid"/>
          </a:ln>
        </p:spPr>
      </p:sp>
      <p:sp>
        <p:nvSpPr>
          <p:cNvPr id="12"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1188720" y="228600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Overall description</a:t>
            </a:r>
            <a:endParaRPr lang="en-US" sz="1600" dirty="0"/>
          </a:p>
        </p:txBody>
      </p:sp>
      <p:sp>
        <p:nvSpPr>
          <p:cNvPr id="14" name="Text 11"/>
          <p:cNvSpPr txBox="1"/>
          <p:nvPr/>
        </p:nvSpPr>
        <p:spPr>
          <a:xfrm>
            <a:off x="3566160" y="228600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Product perspective, user classes, environment, constraints, assumptions</a:t>
            </a:r>
            <a:endParaRPr lang="en-US" sz="1350" dirty="0"/>
          </a:p>
        </p:txBody>
      </p:sp>
      <p:sp>
        <p:nvSpPr>
          <p:cNvPr id="15" name="Shape 12"/>
          <p:cNvSpPr/>
          <p:nvPr/>
        </p:nvSpPr>
        <p:spPr>
          <a:xfrm>
            <a:off x="548640" y="2971800"/>
            <a:ext cx="457200" cy="457200"/>
          </a:xfrm>
          <a:prstGeom prst="ellipse">
            <a:avLst/>
          </a:prstGeom>
          <a:solidFill>
            <a:srgbClr val="0F766E"/>
          </a:solidFill>
          <a:ln w="12700">
            <a:solidFill>
              <a:srgbClr val="0F766E"/>
            </a:solidFill>
            <a:prstDash val="solid"/>
          </a:ln>
        </p:spPr>
      </p:sp>
      <p:sp>
        <p:nvSpPr>
          <p:cNvPr id="16" name="Text 13"/>
          <p:cNvSpPr txBox="1"/>
          <p:nvPr/>
        </p:nvSpPr>
        <p:spPr>
          <a:xfrm>
            <a:off x="548640" y="2971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1188720" y="292608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External interfaces</a:t>
            </a:r>
            <a:endParaRPr lang="en-US" sz="1600" dirty="0"/>
          </a:p>
        </p:txBody>
      </p:sp>
      <p:sp>
        <p:nvSpPr>
          <p:cNvPr id="18" name="Text 15"/>
          <p:cNvSpPr txBox="1"/>
          <p:nvPr/>
        </p:nvSpPr>
        <p:spPr>
          <a:xfrm>
            <a:off x="3566160" y="292608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UI screens, software &amp; communication interfaces, 15 API endpoints</a:t>
            </a:r>
            <a:endParaRPr lang="en-US" sz="1350" dirty="0"/>
          </a:p>
        </p:txBody>
      </p:sp>
      <p:sp>
        <p:nvSpPr>
          <p:cNvPr id="19" name="Shape 16"/>
          <p:cNvSpPr/>
          <p:nvPr/>
        </p:nvSpPr>
        <p:spPr>
          <a:xfrm>
            <a:off x="548640" y="3611880"/>
            <a:ext cx="457200" cy="457200"/>
          </a:xfrm>
          <a:prstGeom prst="ellipse">
            <a:avLst/>
          </a:prstGeom>
          <a:solidFill>
            <a:srgbClr val="0F766E"/>
          </a:solidFill>
          <a:ln w="12700">
            <a:solidFill>
              <a:srgbClr val="0F766E"/>
            </a:solidFill>
            <a:prstDash val="solid"/>
          </a:ln>
        </p:spPr>
      </p:sp>
      <p:sp>
        <p:nvSpPr>
          <p:cNvPr id="20" name="Text 17"/>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1188720" y="356616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System features</a:t>
            </a:r>
            <a:endParaRPr lang="en-US" sz="1600" dirty="0"/>
          </a:p>
        </p:txBody>
      </p:sp>
      <p:sp>
        <p:nvSpPr>
          <p:cNvPr id="22" name="Text 19"/>
          <p:cNvSpPr txBox="1"/>
          <p:nvPr/>
        </p:nvSpPr>
        <p:spPr>
          <a:xfrm>
            <a:off x="3566160" y="356616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Stimulus / response and FR-01 - FR-16 per feature</a:t>
            </a:r>
            <a:endParaRPr lang="en-US" sz="1350" dirty="0"/>
          </a:p>
        </p:txBody>
      </p:sp>
      <p:sp>
        <p:nvSpPr>
          <p:cNvPr id="23" name="Shape 20"/>
          <p:cNvSpPr/>
          <p:nvPr/>
        </p:nvSpPr>
        <p:spPr>
          <a:xfrm>
            <a:off x="548640" y="4251960"/>
            <a:ext cx="457200" cy="457200"/>
          </a:xfrm>
          <a:prstGeom prst="ellipse">
            <a:avLst/>
          </a:prstGeom>
          <a:solidFill>
            <a:srgbClr val="0F766E"/>
          </a:solidFill>
          <a:ln w="12700">
            <a:solidFill>
              <a:srgbClr val="0F766E"/>
            </a:solidFill>
            <a:prstDash val="solid"/>
          </a:ln>
        </p:spPr>
      </p:sp>
      <p:sp>
        <p:nvSpPr>
          <p:cNvPr id="24" name="Text 21"/>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1188720" y="420624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Non-functional</a:t>
            </a:r>
            <a:endParaRPr lang="en-US" sz="1600" dirty="0"/>
          </a:p>
        </p:txBody>
      </p:sp>
      <p:sp>
        <p:nvSpPr>
          <p:cNvPr id="26" name="Text 23"/>
          <p:cNvSpPr txBox="1"/>
          <p:nvPr/>
        </p:nvSpPr>
        <p:spPr>
          <a:xfrm>
            <a:off x="3566160" y="420624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Performance, security, quality attributes, business rules</a:t>
            </a:r>
            <a:endParaRPr lang="en-US" sz="1350" dirty="0"/>
          </a:p>
        </p:txBody>
      </p:sp>
      <p:sp>
        <p:nvSpPr>
          <p:cNvPr id="27" name="Shape 24"/>
          <p:cNvSpPr/>
          <p:nvPr/>
        </p:nvSpPr>
        <p:spPr>
          <a:xfrm>
            <a:off x="548640" y="4892040"/>
            <a:ext cx="457200" cy="457200"/>
          </a:xfrm>
          <a:prstGeom prst="ellipse">
            <a:avLst/>
          </a:prstGeom>
          <a:solidFill>
            <a:srgbClr val="0F766E"/>
          </a:solidFill>
          <a:ln w="12700">
            <a:solidFill>
              <a:srgbClr val="0F766E"/>
            </a:solidFill>
            <a:prstDash val="solid"/>
          </a:ln>
        </p:spPr>
      </p:sp>
      <p:sp>
        <p:nvSpPr>
          <p:cNvPr id="28" name="Text 2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6"/>
          <p:cNvSpPr txBox="1"/>
          <p:nvPr/>
        </p:nvSpPr>
        <p:spPr>
          <a:xfrm>
            <a:off x="1188720" y="484632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Data requirements</a:t>
            </a:r>
            <a:endParaRPr lang="en-US" sz="1600" dirty="0"/>
          </a:p>
        </p:txBody>
      </p:sp>
      <p:sp>
        <p:nvSpPr>
          <p:cNvPr id="30" name="Text 27"/>
          <p:cNvSpPr txBox="1"/>
          <p:nvPr/>
        </p:nvSpPr>
        <p:spPr>
          <a:xfrm>
            <a:off x="3566160" y="484632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Class diagram and field rules for 3 collections</a:t>
            </a:r>
            <a:endParaRPr lang="en-US" sz="1350" dirty="0"/>
          </a:p>
        </p:txBody>
      </p:sp>
      <p:sp>
        <p:nvSpPr>
          <p:cNvPr id="31" name="Shape 28"/>
          <p:cNvSpPr/>
          <p:nvPr/>
        </p:nvSpPr>
        <p:spPr>
          <a:xfrm>
            <a:off x="548640" y="5532120"/>
            <a:ext cx="457200" cy="457200"/>
          </a:xfrm>
          <a:prstGeom prst="ellipse">
            <a:avLst/>
          </a:prstGeom>
          <a:solidFill>
            <a:srgbClr val="0F766E"/>
          </a:solidFill>
          <a:ln w="12700">
            <a:solidFill>
              <a:srgbClr val="0F766E"/>
            </a:solidFill>
            <a:prstDash val="solid"/>
          </a:ln>
        </p:spPr>
      </p:sp>
      <p:sp>
        <p:nvSpPr>
          <p:cNvPr id="32" name="Text 29"/>
          <p:cNvSpPr txBox="1"/>
          <p:nvPr/>
        </p:nvSpPr>
        <p:spPr>
          <a:xfrm>
            <a:off x="548640" y="5532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3" name="Text 30"/>
          <p:cNvSpPr txBox="1"/>
          <p:nvPr/>
        </p:nvSpPr>
        <p:spPr>
          <a:xfrm>
            <a:off x="1188720" y="5486400"/>
            <a:ext cx="2377440" cy="548640"/>
          </a:xfrm>
          <a:prstGeom prst="rect">
            <a:avLst/>
          </a:prstGeom>
          <a:noFill/>
          <a:ln/>
        </p:spPr>
        <p:txBody>
          <a:bodyPr wrap="square" lIns="0" tIns="0" rIns="0" bIns="0" rtlCol="0" anchor="ctr"/>
          <a:lstStyle/>
          <a:p>
            <a:pPr indent="0" marL="0">
              <a:buNone/>
            </a:pPr>
            <a:r>
              <a:rPr lang="en-US" sz="1600" b="1" dirty="0">
                <a:solidFill>
                  <a:srgbClr val="0B3B37"/>
                </a:solidFill>
                <a:latin typeface="Calibri" pitchFamily="34" charset="0"/>
                <a:ea typeface="Calibri" pitchFamily="34" charset="-122"/>
                <a:cs typeface="Calibri" pitchFamily="34" charset="-120"/>
              </a:rPr>
              <a:t>Verification</a:t>
            </a:r>
            <a:endParaRPr lang="en-US" sz="1600" dirty="0"/>
          </a:p>
        </p:txBody>
      </p:sp>
      <p:sp>
        <p:nvSpPr>
          <p:cNvPr id="34" name="Text 31"/>
          <p:cNvSpPr txBox="1"/>
          <p:nvPr/>
        </p:nvSpPr>
        <p:spPr>
          <a:xfrm>
            <a:off x="3566160" y="5486400"/>
            <a:ext cx="393192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Requirement -&gt; test case -&gt; result traceability</a:t>
            </a:r>
            <a:endParaRPr lang="en-US" sz="1350" dirty="0"/>
          </a:p>
        </p:txBody>
      </p:sp>
      <p:sp>
        <p:nvSpPr>
          <p:cNvPr id="35" name="Shape 32"/>
          <p:cNvSpPr/>
          <p:nvPr/>
        </p:nvSpPr>
        <p:spPr>
          <a:xfrm>
            <a:off x="7680960" y="1645920"/>
            <a:ext cx="3959352" cy="4526280"/>
          </a:xfrm>
          <a:prstGeom prst="roundRect">
            <a:avLst>
              <a:gd name="adj" fmla="val 2309"/>
            </a:avLst>
          </a:prstGeom>
          <a:solidFill>
            <a:srgbClr val="0B3B37"/>
          </a:solidFill>
          <a:ln w="12700">
            <a:solidFill>
              <a:srgbClr val="0B3B37"/>
            </a:solidFill>
            <a:prstDash val="solid"/>
          </a:ln>
        </p:spPr>
      </p:sp>
      <p:sp>
        <p:nvSpPr>
          <p:cNvPr id="36" name="Text 33"/>
          <p:cNvSpPr txBox="1"/>
          <p:nvPr/>
        </p:nvSpPr>
        <p:spPr>
          <a:xfrm>
            <a:off x="7955280" y="1828800"/>
            <a:ext cx="3474720" cy="365760"/>
          </a:xfrm>
          <a:prstGeom prst="rect">
            <a:avLst/>
          </a:prstGeom>
          <a:noFill/>
          <a:ln/>
        </p:spPr>
        <p:txBody>
          <a:bodyPr wrap="square" lIns="0" tIns="0" rIns="0" bIns="0" rtlCol="0" anchor="t"/>
          <a:lstStyle/>
          <a:p>
            <a:pPr indent="0" marL="0">
              <a:buNone/>
            </a:pPr>
            <a:r>
              <a:rPr lang="en-US" sz="1700" b="1" dirty="0">
                <a:solidFill>
                  <a:srgbClr val="F59E0B"/>
                </a:solidFill>
                <a:latin typeface="Calibri" pitchFamily="34" charset="0"/>
                <a:ea typeface="Calibri" pitchFamily="34" charset="-122"/>
                <a:cs typeface="Calibri" pitchFamily="34" charset="-120"/>
              </a:rPr>
              <a:t>Deliverables</a:t>
            </a:r>
            <a:endParaRPr lang="en-US" sz="1700" dirty="0"/>
          </a:p>
        </p:txBody>
      </p:sp>
      <p:sp>
        <p:nvSpPr>
          <p:cNvPr id="37" name="Text 34"/>
          <p:cNvSpPr txBox="1"/>
          <p:nvPr/>
        </p:nvSpPr>
        <p:spPr>
          <a:xfrm>
            <a:off x="7955280" y="2331720"/>
            <a:ext cx="3474720" cy="36576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Requirements Analysis</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System Design (5 UML diagrams)</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Working software + README</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Testing Report (45 + 10 cases)</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SRS document</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This presentation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647188"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402336"/>
            <a:ext cx="109728" cy="109728"/>
          </a:xfrm>
          <a:prstGeom prst="ellipse">
            <a:avLst/>
          </a:prstGeom>
          <a:solidFill>
            <a:srgbClr val="FFFFFF"/>
          </a:solidFill>
          <a:ln w="12700">
            <a:solidFill>
              <a:srgbClr val="FFFFFF"/>
            </a:solidFill>
            <a:prstDash val="solid"/>
          </a:ln>
        </p:spPr>
      </p:sp>
      <p:sp>
        <p:nvSpPr>
          <p:cNvPr id="4" name="Text 2"/>
          <p:cNvSpPr txBox="1"/>
          <p:nvPr/>
        </p:nvSpPr>
        <p:spPr>
          <a:xfrm>
            <a:off x="841248" y="292608"/>
            <a:ext cx="2299716"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Student 5  |  Documentation</a:t>
            </a:r>
            <a:endParaRPr lang="en-US" sz="1200" dirty="0"/>
          </a:p>
        </p:txBody>
      </p:sp>
      <p:sp>
        <p:nvSpPr>
          <p:cNvPr id="5" name="Text 3"/>
          <p:cNvSpPr txBox="1"/>
          <p:nvPr/>
        </p:nvSpPr>
        <p:spPr>
          <a:xfrm>
            <a:off x="548640" y="713232"/>
            <a:ext cx="11094415" cy="731520"/>
          </a:xfrm>
          <a:prstGeom prst="rect">
            <a:avLst/>
          </a:prstGeom>
          <a:noFill/>
          <a:ln/>
        </p:spPr>
        <p:txBody>
          <a:bodyPr wrap="square" lIns="0" tIns="0" rIns="0" bIns="0" rtlCol="0" anchor="ctr"/>
          <a:lstStyle/>
          <a:p>
            <a:pPr indent="0" marL="0">
              <a:buNone/>
            </a:pPr>
            <a:r>
              <a:rPr lang="en-US" sz="3400" b="1" dirty="0">
                <a:solidFill>
                  <a:srgbClr val="0B3B37"/>
                </a:solidFill>
                <a:latin typeface="Cambria" pitchFamily="34" charset="0"/>
                <a:ea typeface="Cambria" pitchFamily="34" charset="-122"/>
                <a:cs typeface="Cambria" pitchFamily="34" charset="-120"/>
              </a:rPr>
              <a:t>Conclusion and future work</a:t>
            </a:r>
            <a:endParaRPr lang="en-US" sz="3400" dirty="0"/>
          </a:p>
        </p:txBody>
      </p:sp>
      <p:sp>
        <p:nvSpPr>
          <p:cNvPr id="7" name="Text 4"/>
          <p:cNvSpPr txBox="1"/>
          <p:nvPr/>
        </p:nvSpPr>
        <p:spPr>
          <a:xfrm>
            <a:off x="548640" y="1691640"/>
            <a:ext cx="530352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What we achieved</a:t>
            </a:r>
            <a:endParaRPr lang="en-US" sz="1800" dirty="0"/>
          </a:p>
        </p:txBody>
      </p:sp>
      <p:sp>
        <p:nvSpPr>
          <p:cNvPr id="8" name="Text 5"/>
          <p:cNvSpPr txBox="1"/>
          <p:nvPr/>
        </p:nvSpPr>
        <p:spPr>
          <a:xfrm>
            <a:off x="548640" y="2194560"/>
            <a:ext cx="5394960" cy="38404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A working full-stack application solving a real campus problem</a:t>
            </a:r>
            <a:endParaRPr lang="en-US" sz="1600" dirty="0"/>
          </a:p>
          <a:p>
            <a:pPr marL="203200" indent="-2032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All 16 functional requirements implemented and verified</a:t>
            </a:r>
            <a:endParaRPr lang="en-US" sz="1600" dirty="0"/>
          </a:p>
          <a:p>
            <a:pPr marL="203200" indent="-2032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Ownership check and privacy built into the claim workflow</a:t>
            </a:r>
            <a:endParaRPr lang="en-US" sz="1600" dirty="0"/>
          </a:p>
          <a:p>
            <a:pPr marL="203200" indent="-2032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4 defects found by testing, fixed and re-tested</a:t>
            </a:r>
            <a:endParaRPr lang="en-US" sz="1600" dirty="0"/>
          </a:p>
          <a:p>
            <a:pPr marL="203200" indent="-2032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Complete SDLC documentation, with traceability from requirements to tests</a:t>
            </a:r>
            <a:endParaRPr lang="en-US" sz="1600" dirty="0"/>
          </a:p>
        </p:txBody>
      </p:sp>
      <p:sp>
        <p:nvSpPr>
          <p:cNvPr id="9" name="Shape 6"/>
          <p:cNvSpPr/>
          <p:nvPr/>
        </p:nvSpPr>
        <p:spPr>
          <a:xfrm>
            <a:off x="6400800" y="1691640"/>
            <a:ext cx="5239512" cy="4480560"/>
          </a:xfrm>
          <a:prstGeom prst="roundRect">
            <a:avLst>
              <a:gd name="adj" fmla="val 2041"/>
            </a:avLst>
          </a:prstGeom>
          <a:solidFill>
            <a:srgbClr val="E6F2EF"/>
          </a:solidFill>
          <a:ln w="12700">
            <a:solidFill>
              <a:srgbClr val="E6F2EF"/>
            </a:solidFill>
            <a:prstDash val="solid"/>
          </a:ln>
        </p:spPr>
      </p:sp>
      <p:sp>
        <p:nvSpPr>
          <p:cNvPr id="10" name="Text 7"/>
          <p:cNvSpPr txBox="1"/>
          <p:nvPr/>
        </p:nvSpPr>
        <p:spPr>
          <a:xfrm>
            <a:off x="6675120" y="1874520"/>
            <a:ext cx="4663440" cy="365760"/>
          </a:xfrm>
          <a:prstGeom prst="rect">
            <a:avLst/>
          </a:prstGeom>
          <a:noFill/>
          <a:ln/>
        </p:spPr>
        <p:txBody>
          <a:bodyPr wrap="square" lIns="0" tIns="0" rIns="0" bIns="0" rtlCol="0" anchor="t"/>
          <a:lstStyle/>
          <a:p>
            <a:pPr indent="0" marL="0">
              <a:buNone/>
            </a:pPr>
            <a:r>
              <a:rPr lang="en-US" sz="1800" b="1" dirty="0">
                <a:solidFill>
                  <a:srgbClr val="0B3B37"/>
                </a:solidFill>
                <a:latin typeface="Calibri" pitchFamily="34" charset="0"/>
                <a:ea typeface="Calibri" pitchFamily="34" charset="-122"/>
                <a:cs typeface="Calibri" pitchFamily="34" charset="-120"/>
              </a:rPr>
              <a:t>Future enhancements</a:t>
            </a:r>
            <a:endParaRPr lang="en-US" sz="1800" dirty="0"/>
          </a:p>
        </p:txBody>
      </p:sp>
      <p:sp>
        <p:nvSpPr>
          <p:cNvPr id="11" name="Shape 8"/>
          <p:cNvSpPr/>
          <p:nvPr/>
        </p:nvSpPr>
        <p:spPr>
          <a:xfrm>
            <a:off x="6675120" y="2423160"/>
            <a:ext cx="438912" cy="438912"/>
          </a:xfrm>
          <a:prstGeom prst="ellipse">
            <a:avLst/>
          </a:prstGeom>
          <a:solidFill>
            <a:srgbClr val="F59E0B"/>
          </a:solidFill>
          <a:ln w="12700">
            <a:solidFill>
              <a:srgbClr val="F59E0B"/>
            </a:solidFill>
            <a:prstDash val="solid"/>
          </a:ln>
        </p:spPr>
      </p:sp>
      <p:sp>
        <p:nvSpPr>
          <p:cNvPr id="12" name="Text 9"/>
          <p:cNvSpPr txBox="1"/>
          <p:nvPr/>
        </p:nvSpPr>
        <p:spPr>
          <a:xfrm>
            <a:off x="6675120" y="2423160"/>
            <a:ext cx="438912" cy="438912"/>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7269480" y="2423160"/>
            <a:ext cx="4114800" cy="43891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Email / push notifications</a:t>
            </a:r>
            <a:endParaRPr lang="en-US" sz="1600" dirty="0"/>
          </a:p>
        </p:txBody>
      </p:sp>
      <p:sp>
        <p:nvSpPr>
          <p:cNvPr id="14" name="Shape 11"/>
          <p:cNvSpPr/>
          <p:nvPr/>
        </p:nvSpPr>
        <p:spPr>
          <a:xfrm>
            <a:off x="6675120" y="3136392"/>
            <a:ext cx="438912" cy="438912"/>
          </a:xfrm>
          <a:prstGeom prst="ellipse">
            <a:avLst/>
          </a:prstGeom>
          <a:solidFill>
            <a:srgbClr val="F59E0B"/>
          </a:solidFill>
          <a:ln w="12700">
            <a:solidFill>
              <a:srgbClr val="F59E0B"/>
            </a:solidFill>
            <a:prstDash val="solid"/>
          </a:ln>
        </p:spPr>
      </p:sp>
      <p:sp>
        <p:nvSpPr>
          <p:cNvPr id="15" name="Text 12"/>
          <p:cNvSpPr txBox="1"/>
          <p:nvPr/>
        </p:nvSpPr>
        <p:spPr>
          <a:xfrm>
            <a:off x="6675120" y="3136392"/>
            <a:ext cx="438912" cy="438912"/>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7269480" y="3136392"/>
            <a:ext cx="4114800" cy="43891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Sign-up with college email only</a:t>
            </a:r>
            <a:endParaRPr lang="en-US" sz="1600" dirty="0"/>
          </a:p>
        </p:txBody>
      </p:sp>
      <p:sp>
        <p:nvSpPr>
          <p:cNvPr id="17" name="Shape 14"/>
          <p:cNvSpPr/>
          <p:nvPr/>
        </p:nvSpPr>
        <p:spPr>
          <a:xfrm>
            <a:off x="6675120" y="3849624"/>
            <a:ext cx="438912" cy="438912"/>
          </a:xfrm>
          <a:prstGeom prst="ellipse">
            <a:avLst/>
          </a:prstGeom>
          <a:solidFill>
            <a:srgbClr val="F59E0B"/>
          </a:solidFill>
          <a:ln w="12700">
            <a:solidFill>
              <a:srgbClr val="F59E0B"/>
            </a:solidFill>
            <a:prstDash val="solid"/>
          </a:ln>
        </p:spPr>
      </p:sp>
      <p:sp>
        <p:nvSpPr>
          <p:cNvPr id="18" name="Text 15"/>
          <p:cNvSpPr txBox="1"/>
          <p:nvPr/>
        </p:nvSpPr>
        <p:spPr>
          <a:xfrm>
            <a:off x="6675120" y="3849624"/>
            <a:ext cx="438912" cy="438912"/>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7269480" y="3849624"/>
            <a:ext cx="4114800" cy="43891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Admin dashboard for spam posts</a:t>
            </a:r>
            <a:endParaRPr lang="en-US" sz="1600" dirty="0"/>
          </a:p>
        </p:txBody>
      </p:sp>
      <p:sp>
        <p:nvSpPr>
          <p:cNvPr id="20" name="Shape 17"/>
          <p:cNvSpPr/>
          <p:nvPr/>
        </p:nvSpPr>
        <p:spPr>
          <a:xfrm>
            <a:off x="6675120" y="4562856"/>
            <a:ext cx="438912" cy="438912"/>
          </a:xfrm>
          <a:prstGeom prst="ellipse">
            <a:avLst/>
          </a:prstGeom>
          <a:solidFill>
            <a:srgbClr val="F59E0B"/>
          </a:solidFill>
          <a:ln w="12700">
            <a:solidFill>
              <a:srgbClr val="F59E0B"/>
            </a:solidFill>
            <a:prstDash val="solid"/>
          </a:ln>
        </p:spPr>
      </p:sp>
      <p:sp>
        <p:nvSpPr>
          <p:cNvPr id="21" name="Text 18"/>
          <p:cNvSpPr txBox="1"/>
          <p:nvPr/>
        </p:nvSpPr>
        <p:spPr>
          <a:xfrm>
            <a:off x="6675120" y="4562856"/>
            <a:ext cx="438912" cy="438912"/>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7269480" y="4562856"/>
            <a:ext cx="4114800" cy="43891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Automatic lost-found matching</a:t>
            </a:r>
            <a:endParaRPr lang="en-US" sz="1600" dirty="0"/>
          </a:p>
        </p:txBody>
      </p:sp>
      <p:sp>
        <p:nvSpPr>
          <p:cNvPr id="23" name="Shape 20"/>
          <p:cNvSpPr/>
          <p:nvPr/>
        </p:nvSpPr>
        <p:spPr>
          <a:xfrm>
            <a:off x="6675120" y="5276088"/>
            <a:ext cx="438912" cy="438912"/>
          </a:xfrm>
          <a:prstGeom prst="ellipse">
            <a:avLst/>
          </a:prstGeom>
          <a:solidFill>
            <a:srgbClr val="F59E0B"/>
          </a:solidFill>
          <a:ln w="12700">
            <a:solidFill>
              <a:srgbClr val="F59E0B"/>
            </a:solidFill>
            <a:prstDash val="solid"/>
          </a:ln>
        </p:spPr>
      </p:sp>
      <p:sp>
        <p:nvSpPr>
          <p:cNvPr id="24" name="Text 21"/>
          <p:cNvSpPr txBox="1"/>
          <p:nvPr/>
        </p:nvSpPr>
        <p:spPr>
          <a:xfrm>
            <a:off x="6675120" y="5276088"/>
            <a:ext cx="438912" cy="438912"/>
          </a:xfrm>
          <a:prstGeom prst="rect">
            <a:avLst/>
          </a:prstGeom>
          <a:noFill/>
          <a:ln/>
        </p:spPr>
        <p:txBody>
          <a:bodyPr wrap="square" lIns="0" tIns="0" rIns="0" bIns="0" rtlCol="0" anchor="ctr"/>
          <a:lstStyle/>
          <a:p>
            <a:pPr algn="ctr" indent="0" marL="0">
              <a:buNone/>
            </a:pPr>
            <a:r>
              <a:rPr lang="en-US" sz="1400" b="1" dirty="0">
                <a:solidFill>
                  <a:srgbClr val="0B3B37"/>
                </a:solidFill>
                <a:latin typeface="Calibri" pitchFamily="34" charset="0"/>
                <a:ea typeface="Calibri" pitchFamily="34" charset="-122"/>
                <a:cs typeface="Calibri" pitchFamily="34" charset="-120"/>
              </a:rPr>
              <a:t>5</a:t>
            </a:r>
            <a:endParaRPr lang="en-US" sz="1400" dirty="0"/>
          </a:p>
        </p:txBody>
      </p:sp>
      <p:sp>
        <p:nvSpPr>
          <p:cNvPr id="25" name="Text 22"/>
          <p:cNvSpPr txBox="1"/>
          <p:nvPr/>
        </p:nvSpPr>
        <p:spPr>
          <a:xfrm>
            <a:off x="7269480" y="5276088"/>
            <a:ext cx="4114800" cy="43891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Cloud hosting with HTTPS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B37"/>
        </a:solidFill>
      </p:bgPr>
    </p:bg>
    <p:spTree>
      <p:nvGrpSpPr>
        <p:cNvPr id="1" name=""/>
        <p:cNvGrpSpPr/>
        <p:nvPr/>
      </p:nvGrpSpPr>
      <p:grpSpPr>
        <a:xfrm>
          <a:off x="0" y="0"/>
          <a:ext cx="0" cy="0"/>
          <a:chOff x="0" y="0"/>
          <a:chExt cx="0" cy="0"/>
        </a:xfrm>
      </p:grpSpPr>
      <p:sp>
        <p:nvSpPr>
          <p:cNvPr id="2" name="Shape 0"/>
          <p:cNvSpPr/>
          <p:nvPr/>
        </p:nvSpPr>
        <p:spPr>
          <a:xfrm>
            <a:off x="548640" y="457200"/>
            <a:ext cx="2651760" cy="329184"/>
          </a:xfrm>
          <a:prstGeom prst="roundRect">
            <a:avLst>
              <a:gd name="adj" fmla="val 22222"/>
            </a:avLst>
          </a:prstGeom>
          <a:solidFill>
            <a:srgbClr val="F59E0B"/>
          </a:solidFill>
          <a:ln w="12700">
            <a:solidFill>
              <a:srgbClr val="F59E0B"/>
            </a:solidFill>
            <a:prstDash val="solid"/>
          </a:ln>
        </p:spPr>
      </p:sp>
      <p:sp>
        <p:nvSpPr>
          <p:cNvPr id="3" name="Shape 1"/>
          <p:cNvSpPr/>
          <p:nvPr/>
        </p:nvSpPr>
        <p:spPr>
          <a:xfrm>
            <a:off x="658368" y="566928"/>
            <a:ext cx="109728" cy="109728"/>
          </a:xfrm>
          <a:prstGeom prst="ellipse">
            <a:avLst/>
          </a:prstGeom>
          <a:solidFill>
            <a:srgbClr val="0B3B37"/>
          </a:solidFill>
          <a:ln w="12700">
            <a:solidFill>
              <a:srgbClr val="0B3B37"/>
            </a:solidFill>
            <a:prstDash val="solid"/>
          </a:ln>
        </p:spPr>
      </p:sp>
      <p:sp>
        <p:nvSpPr>
          <p:cNvPr id="4" name="Text 2"/>
          <p:cNvSpPr txBox="1"/>
          <p:nvPr/>
        </p:nvSpPr>
        <p:spPr>
          <a:xfrm>
            <a:off x="841248" y="457200"/>
            <a:ext cx="2304288" cy="329184"/>
          </a:xfrm>
          <a:prstGeom prst="rect">
            <a:avLst/>
          </a:prstGeom>
          <a:noFill/>
          <a:ln/>
        </p:spPr>
        <p:txBody>
          <a:bodyPr wrap="square" lIns="0" tIns="0" rIns="0" bIns="0" rtlCol="0" anchor="ctr"/>
          <a:lstStyle/>
          <a:p>
            <a:pPr indent="0" marL="0">
              <a:buNone/>
            </a:pPr>
            <a:r>
              <a:rPr lang="en-US" sz="1200" b="1" dirty="0">
                <a:solidFill>
                  <a:srgbClr val="0B3B37"/>
                </a:solidFill>
                <a:latin typeface="Calibri" pitchFamily="34" charset="0"/>
                <a:ea typeface="Calibri" pitchFamily="34" charset="-122"/>
                <a:cs typeface="Calibri" pitchFamily="34" charset="-120"/>
              </a:rPr>
              <a:t>Campus Lost &amp; Found</a:t>
            </a:r>
            <a:endParaRPr lang="en-US" sz="1200" dirty="0"/>
          </a:p>
        </p:txBody>
      </p:sp>
      <p:sp>
        <p:nvSpPr>
          <p:cNvPr id="5" name="Text 3"/>
          <p:cNvSpPr txBox="1"/>
          <p:nvPr/>
        </p:nvSpPr>
        <p:spPr>
          <a:xfrm>
            <a:off x="548640" y="2011680"/>
            <a:ext cx="7315200" cy="118872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6" name="Text 4"/>
          <p:cNvSpPr txBox="1"/>
          <p:nvPr/>
        </p:nvSpPr>
        <p:spPr>
          <a:xfrm>
            <a:off x="548640" y="3200400"/>
            <a:ext cx="7315200" cy="731520"/>
          </a:xfrm>
          <a:prstGeom prst="rect">
            <a:avLst/>
          </a:prstGeom>
          <a:noFill/>
          <a:ln/>
        </p:spPr>
        <p:txBody>
          <a:bodyPr wrap="square" lIns="0" tIns="0" rIns="0" bIns="0" rtlCol="0" anchor="t"/>
          <a:lstStyle/>
          <a:p>
            <a:pPr indent="0" marL="0">
              <a:buNone/>
            </a:pPr>
            <a:r>
              <a:rPr lang="en-US" sz="3200" i="1" dirty="0">
                <a:solidFill>
                  <a:srgbClr val="F59E0B"/>
                </a:solidFill>
                <a:latin typeface="Cambria" pitchFamily="34" charset="0"/>
                <a:ea typeface="Cambria" pitchFamily="34" charset="-122"/>
                <a:cs typeface="Cambria" pitchFamily="34" charset="-120"/>
              </a:rPr>
              <a:t>Questions?</a:t>
            </a:r>
            <a:endParaRPr lang="en-US" sz="3200" dirty="0"/>
          </a:p>
        </p:txBody>
      </p:sp>
      <p:sp>
        <p:nvSpPr>
          <p:cNvPr id="7" name="Text 5"/>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1500" dirty="0">
                <a:solidFill>
                  <a:srgbClr val="CFE8E3"/>
                </a:solidFill>
                <a:latin typeface="Calibri" pitchFamily="34" charset="0"/>
                <a:ea typeface="Calibri" pitchFamily="34" charset="-122"/>
                <a:cs typeface="Calibri" pitchFamily="34" charset="-120"/>
              </a:rPr>
              <a:t>[Student 1 name]   |   [Student 2 name]   |   [Student 3 name]   |   [Student 4 name]   |   [Student 5 name]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Lost &amp; Found - SE Project Presentation</dc:title>
  <dc:subject>PptxGenJS Presentation</dc:subject>
  <dc:creator>PptxGenJS</dc:creator>
  <cp:lastModifiedBy>PptxGenJS</cp:lastModifiedBy>
  <cp:revision>1</cp:revision>
  <dcterms:created xsi:type="dcterms:W3CDTF">2026-10-04T06:47:43Z</dcterms:created>
  <dcterms:modified xsi:type="dcterms:W3CDTF">2026-10-04T06:47:43Z</dcterms:modified>
</cp:coreProperties>
</file>